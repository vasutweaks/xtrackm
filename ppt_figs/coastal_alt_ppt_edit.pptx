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2.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18.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xml" ContentType="application/vnd.openxmlformats-officedocument.presentationml.slideLayout+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_rels/presentation.xml.rels" ContentType="application/vnd.openxmlformats-package.relationships+xml"/>
  <Override PartName="/ppt/media/image10.png" ContentType="image/png"/>
  <Override PartName="/ppt/media/image1.png" ContentType="image/png"/>
  <Override PartName="/ppt/media/image12.png" ContentType="image/png"/>
  <Override PartName="/ppt/media/image3.png" ContentType="image/png"/>
  <Override PartName="/ppt/media/image15.png" ContentType="image/png"/>
  <Override PartName="/ppt/media/image4.svg" ContentType="image/svg"/>
  <Override PartName="/ppt/media/image7.png" ContentType="image/png"/>
  <Override PartName="/ppt/media/image16.png" ContentType="image/png"/>
  <Override PartName="/ppt/media/image11.png" ContentType="image/png"/>
  <Override PartName="/ppt/media/image2.png" ContentType="image/png"/>
  <Override PartName="/ppt/media/image14.png" ContentType="image/png"/>
  <Override PartName="/ppt/media/image5.png" ContentType="image/png"/>
  <Override PartName="/ppt/media/image6.svg" ContentType="image/svg"/>
  <Override PartName="/ppt/media/image9.png" ContentType="image/png"/>
  <Override PartName="/ppt/media/image13.png" ContentType="image/png"/>
  <Override PartName="/ppt/media/image17.png" ContentType="image/png"/>
  <Override PartName="/ppt/media/image8.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7" r:id="rId3"/>
    <p:sldMasterId id="2147483669" r:id="rId4"/>
    <p:sldMasterId id="2147483672" r:id="rId5"/>
    <p:sldMasterId id="2147483674"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8.xml"/><Relationship Id="rId4" Type="http://schemas.openxmlformats.org/officeDocument/2006/relationships/slideMaster" Target="slideMasters/slideMaster19.xml"/><Relationship Id="rId5" Type="http://schemas.openxmlformats.org/officeDocument/2006/relationships/slideMaster" Target="slideMasters/slideMaster21.xml"/><Relationship Id="rId6" Type="http://schemas.openxmlformats.org/officeDocument/2006/relationships/slideMaster" Target="slideMasters/slideMaster2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680"/>
            <a:ext cx="8227080" cy="11404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trike="noStrike" u="none">
                <a:solidFill>
                  <a:schemeClr val="dk1"/>
                </a:solidFill>
                <a:effectLst/>
                <a:uFillTx/>
                <a:latin typeface="Calibri"/>
              </a:rPr>
              <a:t>Click to edit Master title style</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457200" y="1600200"/>
            <a:ext cx="8227080" cy="45234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rgbClr val="000000"/>
              </a:solidFill>
              <a:effectLst/>
              <a:uFillTx/>
              <a:latin typeface="Arial"/>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rgbClr val="000000"/>
              </a:solidFill>
              <a:effectLst/>
              <a:uFillTx/>
              <a:latin typeface="Arial"/>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rgbClr val="000000"/>
              </a:solidFill>
              <a:effectLst/>
              <a:uFillTx/>
              <a:latin typeface="Arial"/>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rgbClr val="000000"/>
              </a:solidFill>
              <a:effectLst/>
              <a:uFillTx/>
              <a:latin typeface="Arial"/>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rgbClr val="000000"/>
              </a:solidFill>
              <a:effectLst/>
              <a:uFillTx/>
              <a:latin typeface="Arial"/>
            </a:endParaRPr>
          </a:p>
        </p:txBody>
      </p:sp>
      <p:sp>
        <p:nvSpPr>
          <p:cNvPr id="2" name="PlaceHolder 3"/>
          <p:cNvSpPr>
            <a:spLocks noGrp="1"/>
          </p:cNvSpPr>
          <p:nvPr>
            <p:ph type="dt" idx="1"/>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3" name="PlaceHolder 4"/>
          <p:cNvSpPr>
            <a:spLocks noGrp="1"/>
          </p:cNvSpPr>
          <p:nvPr>
            <p:ph type="ftr" idx="2"/>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 name="PlaceHolder 5"/>
          <p:cNvSpPr>
            <a:spLocks noGrp="1"/>
          </p:cNvSpPr>
          <p:nvPr>
            <p:ph type="sldNum" idx="3"/>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A5517920-F984-4034-9187-8C30FC17E7EB}"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722160" y="4406760"/>
            <a:ext cx="7769880" cy="1359720"/>
          </a:xfrm>
          <a:prstGeom prst="rect">
            <a:avLst/>
          </a:prstGeom>
          <a:noFill/>
          <a:ln w="0">
            <a:noFill/>
          </a:ln>
        </p:spPr>
        <p:txBody>
          <a:bodyPr lIns="91440" rIns="91440" tIns="45720" bIns="45720" anchor="t">
            <a:noAutofit/>
          </a:bodyPr>
          <a:p>
            <a:pPr indent="0" defTabSz="457200">
              <a:lnSpc>
                <a:spcPct val="100000"/>
              </a:lnSpc>
              <a:buNone/>
              <a:tabLst>
                <a:tab algn="l" pos="0"/>
              </a:tabLst>
            </a:pPr>
            <a:r>
              <a:rPr b="1" lang="en-US" sz="4000" strike="noStrike" u="none" cap="all">
                <a:solidFill>
                  <a:schemeClr val="dk1"/>
                </a:solidFill>
                <a:effectLst/>
                <a:uFillTx/>
                <a:latin typeface="Calibri"/>
              </a:rPr>
              <a:t>Click to edit Master title style</a:t>
            </a:r>
            <a:endParaRPr b="0" lang="en-US" sz="4000" strike="noStrike" u="none">
              <a:solidFill>
                <a:srgbClr val="000000"/>
              </a:solidFill>
              <a:effectLst/>
              <a:uFillTx/>
              <a:latin typeface="Arial"/>
            </a:endParaRPr>
          </a:p>
        </p:txBody>
      </p:sp>
      <p:sp>
        <p:nvSpPr>
          <p:cNvPr id="6" name="PlaceHolder 2"/>
          <p:cNvSpPr>
            <a:spLocks noGrp="1"/>
          </p:cNvSpPr>
          <p:nvPr>
            <p:ph type="body"/>
          </p:nvPr>
        </p:nvSpPr>
        <p:spPr>
          <a:xfrm>
            <a:off x="722160" y="2906640"/>
            <a:ext cx="7769880" cy="149760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trike="noStrike" u="none">
                <a:solidFill>
                  <a:schemeClr val="dk1">
                    <a:tint val="75000"/>
                  </a:schemeClr>
                </a:solidFill>
                <a:effectLst/>
                <a:uFillTx/>
                <a:latin typeface="Calibri"/>
              </a:rPr>
              <a:t>Click to edit Master text styles</a:t>
            </a:r>
            <a:endParaRPr b="0" lang="en-US" sz="2000" strike="noStrike" u="none">
              <a:solidFill>
                <a:srgbClr val="000000"/>
              </a:solidFill>
              <a:effectLst/>
              <a:uFillTx/>
              <a:latin typeface="Arial"/>
            </a:endParaRPr>
          </a:p>
        </p:txBody>
      </p:sp>
      <p:sp>
        <p:nvSpPr>
          <p:cNvPr id="7" name="PlaceHolder 3"/>
          <p:cNvSpPr>
            <a:spLocks noGrp="1"/>
          </p:cNvSpPr>
          <p:nvPr>
            <p:ph type="dt" idx="4"/>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8" name="PlaceHolder 4"/>
          <p:cNvSpPr>
            <a:spLocks noGrp="1"/>
          </p:cNvSpPr>
          <p:nvPr>
            <p:ph type="ftr" idx="5"/>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 name="PlaceHolder 5"/>
          <p:cNvSpPr>
            <a:spLocks noGrp="1"/>
          </p:cNvSpPr>
          <p:nvPr>
            <p:ph type="sldNum" idx="6"/>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553FB0A5-518A-4EE3-AA25-6A5E38C52EEE}"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7080" cy="11404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trike="noStrike" u="none">
                <a:solidFill>
                  <a:schemeClr val="dk1"/>
                </a:solidFill>
                <a:effectLst/>
                <a:uFillTx/>
                <a:latin typeface="Calibri"/>
              </a:rPr>
              <a:t>Click to edit Master title style</a:t>
            </a:r>
            <a:endParaRPr b="0" lang="en-US" sz="4400" strike="noStrike" u="none">
              <a:solidFill>
                <a:srgbClr val="000000"/>
              </a:solidFill>
              <a:effectLst/>
              <a:uFillTx/>
              <a:latin typeface="Arial"/>
            </a:endParaRPr>
          </a:p>
        </p:txBody>
      </p:sp>
      <p:sp>
        <p:nvSpPr>
          <p:cNvPr id="11" name="PlaceHolder 2"/>
          <p:cNvSpPr>
            <a:spLocks noGrp="1"/>
          </p:cNvSpPr>
          <p:nvPr>
            <p:ph type="body"/>
          </p:nvPr>
        </p:nvSpPr>
        <p:spPr>
          <a:xfrm>
            <a:off x="457200" y="1600200"/>
            <a:ext cx="4035960" cy="452340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743040" indent="-28584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12" name="PlaceHolder 3"/>
          <p:cNvSpPr>
            <a:spLocks noGrp="1"/>
          </p:cNvSpPr>
          <p:nvPr>
            <p:ph type="body"/>
          </p:nvPr>
        </p:nvSpPr>
        <p:spPr>
          <a:xfrm>
            <a:off x="4648320" y="1600200"/>
            <a:ext cx="4035960" cy="452340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743040" indent="-28584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13" name="PlaceHolder 4"/>
          <p:cNvSpPr>
            <a:spLocks noGrp="1"/>
          </p:cNvSpPr>
          <p:nvPr>
            <p:ph type="dt" idx="7"/>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14" name="PlaceHolder 5"/>
          <p:cNvSpPr>
            <a:spLocks noGrp="1"/>
          </p:cNvSpPr>
          <p:nvPr>
            <p:ph type="ftr" idx="8"/>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5" name="PlaceHolder 6"/>
          <p:cNvSpPr>
            <a:spLocks noGrp="1"/>
          </p:cNvSpPr>
          <p:nvPr>
            <p:ph type="sldNum" idx="9"/>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9E1A0EA3-2D39-4D71-AB5A-274285D021D8}"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7080" cy="11404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trike="noStrike" u="none">
                <a:solidFill>
                  <a:schemeClr val="dk1"/>
                </a:solidFill>
                <a:effectLst/>
                <a:uFillTx/>
                <a:latin typeface="Calibri"/>
              </a:rPr>
              <a:t>Click to edit Master title style</a:t>
            </a:r>
            <a:endParaRPr b="0" lang="en-US" sz="4400" strike="noStrike" u="none">
              <a:solidFill>
                <a:srgbClr val="000000"/>
              </a:solidFill>
              <a:effectLst/>
              <a:uFillTx/>
              <a:latin typeface="Arial"/>
            </a:endParaRPr>
          </a:p>
        </p:txBody>
      </p:sp>
      <p:sp>
        <p:nvSpPr>
          <p:cNvPr id="17" name="PlaceHolder 2"/>
          <p:cNvSpPr>
            <a:spLocks noGrp="1"/>
          </p:cNvSpPr>
          <p:nvPr>
            <p:ph type="body"/>
          </p:nvPr>
        </p:nvSpPr>
        <p:spPr>
          <a:xfrm>
            <a:off x="457200" y="1535040"/>
            <a:ext cx="4037760" cy="63720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rgbClr val="000000"/>
              </a:solidFill>
              <a:effectLst/>
              <a:uFillTx/>
              <a:latin typeface="Arial"/>
            </a:endParaRPr>
          </a:p>
        </p:txBody>
      </p:sp>
      <p:sp>
        <p:nvSpPr>
          <p:cNvPr id="18" name="PlaceHolder 3"/>
          <p:cNvSpPr>
            <a:spLocks noGrp="1"/>
          </p:cNvSpPr>
          <p:nvPr>
            <p:ph type="body"/>
          </p:nvPr>
        </p:nvSpPr>
        <p:spPr>
          <a:xfrm>
            <a:off x="457200" y="2174760"/>
            <a:ext cx="4037760" cy="394884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rgbClr val="000000"/>
              </a:solidFill>
              <a:effectLst/>
              <a:uFillTx/>
              <a:latin typeface="Arial"/>
            </a:endParaRPr>
          </a:p>
          <a:p>
            <a:pPr lvl="1" marL="743040" indent="-28584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US" sz="2000" strike="noStrike" u="none">
              <a:solidFill>
                <a:srgbClr val="000000"/>
              </a:solidFill>
              <a:effectLst/>
              <a:uFillTx/>
              <a:latin typeface="Arial"/>
            </a:endParaRPr>
          </a:p>
          <a:p>
            <a:pPr lvl="2" marL="11430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US" sz="1800" strike="noStrike" u="none">
              <a:solidFill>
                <a:srgbClr val="000000"/>
              </a:solidFill>
              <a:effectLst/>
              <a:uFillTx/>
              <a:latin typeface="Arial"/>
            </a:endParaRPr>
          </a:p>
          <a:p>
            <a:pPr lvl="3" marL="16002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rgbClr val="000000"/>
              </a:solidFill>
              <a:effectLst/>
              <a:uFillTx/>
              <a:latin typeface="Arial"/>
            </a:endParaRPr>
          </a:p>
          <a:p>
            <a:pPr lvl="4" marL="20574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rgbClr val="000000"/>
              </a:solidFill>
              <a:effectLst/>
              <a:uFillTx/>
              <a:latin typeface="Arial"/>
            </a:endParaRPr>
          </a:p>
        </p:txBody>
      </p:sp>
      <p:sp>
        <p:nvSpPr>
          <p:cNvPr id="19" name="PlaceHolder 4"/>
          <p:cNvSpPr>
            <a:spLocks noGrp="1"/>
          </p:cNvSpPr>
          <p:nvPr>
            <p:ph type="body"/>
          </p:nvPr>
        </p:nvSpPr>
        <p:spPr>
          <a:xfrm>
            <a:off x="4645080" y="1535040"/>
            <a:ext cx="4039200" cy="63720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rgbClr val="000000"/>
              </a:solidFill>
              <a:effectLst/>
              <a:uFillTx/>
              <a:latin typeface="Arial"/>
            </a:endParaRPr>
          </a:p>
        </p:txBody>
      </p:sp>
      <p:sp>
        <p:nvSpPr>
          <p:cNvPr id="20" name="PlaceHolder 5"/>
          <p:cNvSpPr>
            <a:spLocks noGrp="1"/>
          </p:cNvSpPr>
          <p:nvPr>
            <p:ph type="body"/>
          </p:nvPr>
        </p:nvSpPr>
        <p:spPr>
          <a:xfrm>
            <a:off x="4645080" y="2174760"/>
            <a:ext cx="4039200" cy="394884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rgbClr val="000000"/>
              </a:solidFill>
              <a:effectLst/>
              <a:uFillTx/>
              <a:latin typeface="Arial"/>
            </a:endParaRPr>
          </a:p>
          <a:p>
            <a:pPr lvl="1" marL="743040" indent="-28584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US" sz="2000" strike="noStrike" u="none">
              <a:solidFill>
                <a:srgbClr val="000000"/>
              </a:solidFill>
              <a:effectLst/>
              <a:uFillTx/>
              <a:latin typeface="Arial"/>
            </a:endParaRPr>
          </a:p>
          <a:p>
            <a:pPr lvl="2" marL="11430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US" sz="1800" strike="noStrike" u="none">
              <a:solidFill>
                <a:srgbClr val="000000"/>
              </a:solidFill>
              <a:effectLst/>
              <a:uFillTx/>
              <a:latin typeface="Arial"/>
            </a:endParaRPr>
          </a:p>
          <a:p>
            <a:pPr lvl="3" marL="16002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rgbClr val="000000"/>
              </a:solidFill>
              <a:effectLst/>
              <a:uFillTx/>
              <a:latin typeface="Arial"/>
            </a:endParaRPr>
          </a:p>
          <a:p>
            <a:pPr lvl="4" marL="20574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rgbClr val="000000"/>
              </a:solidFill>
              <a:effectLst/>
              <a:uFillTx/>
              <a:latin typeface="Arial"/>
            </a:endParaRPr>
          </a:p>
        </p:txBody>
      </p:sp>
      <p:sp>
        <p:nvSpPr>
          <p:cNvPr id="21" name="PlaceHolder 6"/>
          <p:cNvSpPr>
            <a:spLocks noGrp="1"/>
          </p:cNvSpPr>
          <p:nvPr>
            <p:ph type="dt" idx="10"/>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2" name="PlaceHolder 7"/>
          <p:cNvSpPr>
            <a:spLocks noGrp="1"/>
          </p:cNvSpPr>
          <p:nvPr>
            <p:ph type="ftr" idx="11"/>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3" name="PlaceHolder 8"/>
          <p:cNvSpPr>
            <a:spLocks noGrp="1"/>
          </p:cNvSpPr>
          <p:nvPr>
            <p:ph type="sldNum" idx="12"/>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CA232ED4-258B-43F0-B565-62190C6CA964}"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7080" cy="11404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trike="noStrike" u="none">
                <a:solidFill>
                  <a:schemeClr val="dk1"/>
                </a:solidFill>
                <a:effectLst/>
                <a:uFillTx/>
                <a:latin typeface="Calibri"/>
              </a:rPr>
              <a:t>Click to edit Master title style</a:t>
            </a:r>
            <a:endParaRPr b="0" lang="en-US" sz="4400" strike="noStrike" u="none">
              <a:solidFill>
                <a:srgbClr val="000000"/>
              </a:solidFill>
              <a:effectLst/>
              <a:uFillTx/>
              <a:latin typeface="Arial"/>
            </a:endParaRPr>
          </a:p>
        </p:txBody>
      </p:sp>
      <p:sp>
        <p:nvSpPr>
          <p:cNvPr id="25" name="PlaceHolder 2"/>
          <p:cNvSpPr>
            <a:spLocks noGrp="1"/>
          </p:cNvSpPr>
          <p:nvPr>
            <p:ph type="dt" idx="13"/>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6" name="PlaceHolder 3"/>
          <p:cNvSpPr>
            <a:spLocks noGrp="1"/>
          </p:cNvSpPr>
          <p:nvPr>
            <p:ph type="ftr" idx="14"/>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7" name="PlaceHolder 4"/>
          <p:cNvSpPr>
            <a:spLocks noGrp="1"/>
          </p:cNvSpPr>
          <p:nvPr>
            <p:ph type="sldNum" idx="15"/>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FB5C17B0-137C-495B-8471-9EE05DEE08B7}"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ank">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dt" idx="16"/>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9" name="PlaceHolder 2"/>
          <p:cNvSpPr>
            <a:spLocks noGrp="1"/>
          </p:cNvSpPr>
          <p:nvPr>
            <p:ph type="ftr" idx="17"/>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0" name="PlaceHolder 3"/>
          <p:cNvSpPr>
            <a:spLocks noGrp="1"/>
          </p:cNvSpPr>
          <p:nvPr>
            <p:ph type="sldNum" idx="18"/>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676AC87F-A0F8-4079-AEFB-E858483AF1DD}"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31" name="PlaceHolder 4"/>
          <p:cNvSpPr>
            <a:spLocks noGrp="1"/>
          </p:cNvSpPr>
          <p:nvPr>
            <p:ph type="title"/>
          </p:nvPr>
        </p:nvSpPr>
        <p:spPr>
          <a:xfrm>
            <a:off x="457200" y="273600"/>
            <a:ext cx="8227080" cy="11426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Calibri"/>
              </a:rPr>
              <a:t>Click to edit the title text format</a:t>
            </a:r>
            <a:endParaRPr b="0" lang="en-US" sz="1800" strike="noStrike" u="none">
              <a:solidFill>
                <a:srgbClr val="000000"/>
              </a:solidFill>
              <a:effectLst/>
              <a:uFillTx/>
              <a:latin typeface="Arial"/>
            </a:endParaRPr>
          </a:p>
        </p:txBody>
      </p:sp>
      <p:sp>
        <p:nvSpPr>
          <p:cNvPr id="32" name="PlaceHolder 5"/>
          <p:cNvSpPr>
            <a:spLocks noGrp="1"/>
          </p:cNvSpPr>
          <p:nvPr>
            <p:ph type="body"/>
          </p:nvPr>
        </p:nvSpPr>
        <p:spPr>
          <a:xfrm>
            <a:off x="457200" y="1604520"/>
            <a:ext cx="8227080" cy="39751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dt" idx="19"/>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34" name="PlaceHolder 2"/>
          <p:cNvSpPr>
            <a:spLocks noGrp="1"/>
          </p:cNvSpPr>
          <p:nvPr>
            <p:ph type="ftr" idx="20"/>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5" name="PlaceHolder 3"/>
          <p:cNvSpPr>
            <a:spLocks noGrp="1"/>
          </p:cNvSpPr>
          <p:nvPr>
            <p:ph type="sldNum" idx="21"/>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B27C3A69-1FA9-4689-AE00-3D5E5A79E50E}"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36" name="PlaceHolder 4"/>
          <p:cNvSpPr>
            <a:spLocks noGrp="1"/>
          </p:cNvSpPr>
          <p:nvPr>
            <p:ph type="title"/>
          </p:nvPr>
        </p:nvSpPr>
        <p:spPr>
          <a:xfrm>
            <a:off x="457200" y="273600"/>
            <a:ext cx="8227080" cy="11426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Calibri"/>
              </a:rPr>
              <a:t>Click to edit the title text format</a:t>
            </a:r>
            <a:endParaRPr b="0" lang="en-US" sz="1800" strike="noStrike" u="none">
              <a:solidFill>
                <a:srgbClr val="000000"/>
              </a:solidFill>
              <a:effectLst/>
              <a:uFillTx/>
              <a:latin typeface="Arial"/>
            </a:endParaRPr>
          </a:p>
        </p:txBody>
      </p:sp>
      <p:sp>
        <p:nvSpPr>
          <p:cNvPr id="37" name="PlaceHolder 5"/>
          <p:cNvSpPr>
            <a:spLocks noGrp="1"/>
          </p:cNvSpPr>
          <p:nvPr>
            <p:ph type="body"/>
          </p:nvPr>
        </p:nvSpPr>
        <p:spPr>
          <a:xfrm>
            <a:off x="457200" y="1604520"/>
            <a:ext cx="8227080" cy="39751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2">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dt" idx="22"/>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39" name="PlaceHolder 2"/>
          <p:cNvSpPr>
            <a:spLocks noGrp="1"/>
          </p:cNvSpPr>
          <p:nvPr>
            <p:ph type="ftr" idx="23"/>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0" name="PlaceHolder 3"/>
          <p:cNvSpPr>
            <a:spLocks noGrp="1"/>
          </p:cNvSpPr>
          <p:nvPr>
            <p:ph type="sldNum" idx="24"/>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32EADEA9-5300-4579-94FB-C35990AC2DD2}"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41" name="PlaceHolder 4"/>
          <p:cNvSpPr>
            <a:spLocks noGrp="1"/>
          </p:cNvSpPr>
          <p:nvPr>
            <p:ph type="title"/>
          </p:nvPr>
        </p:nvSpPr>
        <p:spPr>
          <a:xfrm>
            <a:off x="457200" y="273600"/>
            <a:ext cx="8227080" cy="11426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Calibri"/>
              </a:rPr>
              <a:t>Click to edit the title text format</a:t>
            </a:r>
            <a:endParaRPr b="0" lang="en-US" sz="1800" strike="noStrike" u="none">
              <a:solidFill>
                <a:srgbClr val="000000"/>
              </a:solidFill>
              <a:effectLst/>
              <a:uFillTx/>
              <a:latin typeface="Arial"/>
            </a:endParaRPr>
          </a:p>
        </p:txBody>
      </p:sp>
      <p:sp>
        <p:nvSpPr>
          <p:cNvPr id="42" name="PlaceHolder 5"/>
          <p:cNvSpPr>
            <a:spLocks noGrp="1"/>
          </p:cNvSpPr>
          <p:nvPr>
            <p:ph type="body"/>
          </p:nvPr>
        </p:nvSpPr>
        <p:spPr>
          <a:xfrm>
            <a:off x="457200" y="1604520"/>
            <a:ext cx="8227080" cy="39751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4">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dt" idx="25"/>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44" name="PlaceHolder 2"/>
          <p:cNvSpPr>
            <a:spLocks noGrp="1"/>
          </p:cNvSpPr>
          <p:nvPr>
            <p:ph type="ftr" idx="26"/>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5" name="PlaceHolder 3"/>
          <p:cNvSpPr>
            <a:spLocks noGrp="1"/>
          </p:cNvSpPr>
          <p:nvPr>
            <p:ph type="sldNum" idx="27"/>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91C14ACA-E1B9-4D4E-8370-A3FC1A2ACE13}"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46" name="PlaceHolder 4"/>
          <p:cNvSpPr>
            <a:spLocks noGrp="1"/>
          </p:cNvSpPr>
          <p:nvPr>
            <p:ph type="title"/>
          </p:nvPr>
        </p:nvSpPr>
        <p:spPr>
          <a:xfrm>
            <a:off x="457200" y="273600"/>
            <a:ext cx="8227080" cy="11426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Calibri"/>
              </a:rPr>
              <a:t>Click to edit the title text format</a:t>
            </a:r>
            <a:endParaRPr b="0" lang="en-US" sz="1800" strike="noStrike" u="none">
              <a:solidFill>
                <a:srgbClr val="000000"/>
              </a:solidFill>
              <a:effectLst/>
              <a:uFillTx/>
              <a:latin typeface="Arial"/>
            </a:endParaRPr>
          </a:p>
        </p:txBody>
      </p:sp>
      <p:sp>
        <p:nvSpPr>
          <p:cNvPr id="47" name="PlaceHolder 5"/>
          <p:cNvSpPr>
            <a:spLocks noGrp="1"/>
          </p:cNvSpPr>
          <p:nvPr>
            <p:ph type="body"/>
          </p:nvPr>
        </p:nvSpPr>
        <p:spPr>
          <a:xfrm>
            <a:off x="457200" y="1604520"/>
            <a:ext cx="8227080" cy="39751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3">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dt" idx="28"/>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49" name="PlaceHolder 2"/>
          <p:cNvSpPr>
            <a:spLocks noGrp="1"/>
          </p:cNvSpPr>
          <p:nvPr>
            <p:ph type="ftr" idx="29"/>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0" name="PlaceHolder 3"/>
          <p:cNvSpPr>
            <a:spLocks noGrp="1"/>
          </p:cNvSpPr>
          <p:nvPr>
            <p:ph type="sldNum" idx="30"/>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7A37809B-6FF7-4F9C-A8A3-1AC3AA1B20F3}"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51" name="PlaceHolder 4"/>
          <p:cNvSpPr>
            <a:spLocks noGrp="1"/>
          </p:cNvSpPr>
          <p:nvPr>
            <p:ph type="title"/>
          </p:nvPr>
        </p:nvSpPr>
        <p:spPr>
          <a:xfrm>
            <a:off x="457200" y="273600"/>
            <a:ext cx="8227080" cy="11426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Calibri"/>
              </a:rPr>
              <a:t>Click to edit the title text format</a:t>
            </a:r>
            <a:endParaRPr b="0" lang="en-US" sz="1800" strike="noStrike" u="none">
              <a:solidFill>
                <a:srgbClr val="000000"/>
              </a:solidFill>
              <a:effectLst/>
              <a:uFillTx/>
              <a:latin typeface="Arial"/>
            </a:endParaRPr>
          </a:p>
        </p:txBody>
      </p:sp>
      <p:sp>
        <p:nvSpPr>
          <p:cNvPr id="52" name="PlaceHolder 5"/>
          <p:cNvSpPr>
            <a:spLocks noGrp="1"/>
          </p:cNvSpPr>
          <p:nvPr>
            <p:ph type="body"/>
          </p:nvPr>
        </p:nvSpPr>
        <p:spPr>
          <a:xfrm>
            <a:off x="457200" y="1604520"/>
            <a:ext cx="8227080" cy="39751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dt" idx="31"/>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4" name="PlaceHolder 2"/>
          <p:cNvSpPr>
            <a:spLocks noGrp="1"/>
          </p:cNvSpPr>
          <p:nvPr>
            <p:ph type="ftr" idx="32"/>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5" name="PlaceHolder 3"/>
          <p:cNvSpPr>
            <a:spLocks noGrp="1"/>
          </p:cNvSpPr>
          <p:nvPr>
            <p:ph type="sldNum" idx="33"/>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7F8A0475-A279-4C0B-9A37-2C645B581864}"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56" name="PlaceHolder 4"/>
          <p:cNvSpPr>
            <a:spLocks noGrp="1"/>
          </p:cNvSpPr>
          <p:nvPr>
            <p:ph type="title"/>
          </p:nvPr>
        </p:nvSpPr>
        <p:spPr>
          <a:xfrm>
            <a:off x="457200" y="273600"/>
            <a:ext cx="8227080" cy="11426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Calibri"/>
              </a:rPr>
              <a:t>Click to edit the title text format</a:t>
            </a:r>
            <a:endParaRPr b="0" lang="en-US" sz="1800" strike="noStrike" u="none">
              <a:solidFill>
                <a:srgbClr val="000000"/>
              </a:solidFill>
              <a:effectLst/>
              <a:uFillTx/>
              <a:latin typeface="Arial"/>
            </a:endParaRPr>
          </a:p>
        </p:txBody>
      </p:sp>
      <p:sp>
        <p:nvSpPr>
          <p:cNvPr id="57" name="PlaceHolder 5"/>
          <p:cNvSpPr>
            <a:spLocks noGrp="1"/>
          </p:cNvSpPr>
          <p:nvPr>
            <p:ph type="body"/>
          </p:nvPr>
        </p:nvSpPr>
        <p:spPr>
          <a:xfrm>
            <a:off x="457200" y="1604520"/>
            <a:ext cx="8227080" cy="39751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5">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dt" idx="34"/>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9" name="PlaceHolder 2"/>
          <p:cNvSpPr>
            <a:spLocks noGrp="1"/>
          </p:cNvSpPr>
          <p:nvPr>
            <p:ph type="ftr" idx="35"/>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0" name="PlaceHolder 3"/>
          <p:cNvSpPr>
            <a:spLocks noGrp="1"/>
          </p:cNvSpPr>
          <p:nvPr>
            <p:ph type="sldNum" idx="36"/>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8A865610-8C9B-4BBD-B7EC-B5DDA732B498}"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61" name="PlaceHolder 4"/>
          <p:cNvSpPr>
            <a:spLocks noGrp="1"/>
          </p:cNvSpPr>
          <p:nvPr>
            <p:ph type="title"/>
          </p:nvPr>
        </p:nvSpPr>
        <p:spPr>
          <a:xfrm>
            <a:off x="457200" y="273600"/>
            <a:ext cx="8227080" cy="11426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Calibri"/>
              </a:rPr>
              <a:t>Click to edit the title text format</a:t>
            </a:r>
            <a:endParaRPr b="0" lang="en-US" sz="1800" strike="noStrike" u="none">
              <a:solidFill>
                <a:srgbClr val="000000"/>
              </a:solidFill>
              <a:effectLst/>
              <a:uFillTx/>
              <a:latin typeface="Arial"/>
            </a:endParaRPr>
          </a:p>
        </p:txBody>
      </p:sp>
      <p:sp>
        <p:nvSpPr>
          <p:cNvPr id="62" name="PlaceHolder 5"/>
          <p:cNvSpPr>
            <a:spLocks noGrp="1"/>
          </p:cNvSpPr>
          <p:nvPr>
            <p:ph type="body"/>
          </p:nvPr>
        </p:nvSpPr>
        <p:spPr>
          <a:xfrm>
            <a:off x="457200" y="1604520"/>
            <a:ext cx="8227080" cy="39751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solidFill>
          <a:srgbClr val="ffffff"/>
        </a:solidFill>
      </p:bgPr>
    </p:bg>
    <p:spTree>
      <p:nvGrpSpPr>
        <p:cNvPr id="1" name=""/>
        <p:cNvGrpSpPr/>
        <p:nvPr/>
      </p:nvGrpSpPr>
      <p:grpSpPr>
        <a:xfrm>
          <a:off x="0" y="0"/>
          <a:ext cx="0" cy="0"/>
          <a:chOff x="0" y="0"/>
          <a:chExt cx="0" cy="0"/>
        </a:xfrm>
      </p:grpSpPr>
      <p:sp>
        <p:nvSpPr>
          <p:cNvPr id="63" name="PlaceHolder 1"/>
          <p:cNvSpPr>
            <a:spLocks noGrp="1"/>
          </p:cNvSpPr>
          <p:nvPr>
            <p:ph type="dt" idx="37"/>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64" name="PlaceHolder 2"/>
          <p:cNvSpPr>
            <a:spLocks noGrp="1"/>
          </p:cNvSpPr>
          <p:nvPr>
            <p:ph type="ftr" idx="38"/>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5" name="PlaceHolder 3"/>
          <p:cNvSpPr>
            <a:spLocks noGrp="1"/>
          </p:cNvSpPr>
          <p:nvPr>
            <p:ph type="sldNum" idx="39"/>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E0CD8C2B-89DB-40BA-9D55-BEBF4464A594}"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66" name="PlaceHolder 4"/>
          <p:cNvSpPr>
            <a:spLocks noGrp="1"/>
          </p:cNvSpPr>
          <p:nvPr>
            <p:ph type="title"/>
          </p:nvPr>
        </p:nvSpPr>
        <p:spPr>
          <a:xfrm>
            <a:off x="457200" y="273600"/>
            <a:ext cx="8227080" cy="11426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Calibri"/>
              </a:rPr>
              <a:t>Click to edit the title text format</a:t>
            </a:r>
            <a:endParaRPr b="0" lang="en-US" sz="1800" strike="noStrike" u="none">
              <a:solidFill>
                <a:srgbClr val="000000"/>
              </a:solidFill>
              <a:effectLst/>
              <a:uFillTx/>
              <a:latin typeface="Arial"/>
            </a:endParaRPr>
          </a:p>
        </p:txBody>
      </p:sp>
      <p:sp>
        <p:nvSpPr>
          <p:cNvPr id="67" name="PlaceHolder 5"/>
          <p:cNvSpPr>
            <a:spLocks noGrp="1"/>
          </p:cNvSpPr>
          <p:nvPr>
            <p:ph type="body"/>
          </p:nvPr>
        </p:nvSpPr>
        <p:spPr>
          <a:xfrm>
            <a:off x="457200" y="1604520"/>
            <a:ext cx="8227080" cy="39751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rgbClr val="000000"/>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2880"/>
            <a:ext cx="3005640" cy="1159560"/>
          </a:xfrm>
          <a:prstGeom prst="rect">
            <a:avLst/>
          </a:prstGeom>
          <a:noFill/>
          <a:ln w="0">
            <a:noFill/>
          </a:ln>
        </p:spPr>
        <p:txBody>
          <a:bodyPr lIns="91440" rIns="91440" tIns="45720" bIns="45720" anchor="b">
            <a:noAutofit/>
          </a:bodyPr>
          <a:p>
            <a:pPr indent="0" defTabSz="457200">
              <a:lnSpc>
                <a:spcPct val="100000"/>
              </a:lnSpc>
              <a:buNone/>
              <a:tabLst>
                <a:tab algn="l" pos="0"/>
              </a:tabLst>
            </a:pPr>
            <a:r>
              <a:rPr b="1" lang="en-US" sz="2000" strike="noStrike" u="none">
                <a:solidFill>
                  <a:schemeClr val="dk1"/>
                </a:solidFill>
                <a:effectLst/>
                <a:uFillTx/>
                <a:latin typeface="Calibri"/>
              </a:rPr>
              <a:t>Click to edit Master title style</a:t>
            </a:r>
            <a:endParaRPr b="0" lang="en-US" sz="2000" strike="noStrike" u="none">
              <a:solidFill>
                <a:srgbClr val="000000"/>
              </a:solidFill>
              <a:effectLst/>
              <a:uFillTx/>
              <a:latin typeface="Arial"/>
            </a:endParaRPr>
          </a:p>
        </p:txBody>
      </p:sp>
      <p:sp>
        <p:nvSpPr>
          <p:cNvPr id="69" name="PlaceHolder 2"/>
          <p:cNvSpPr>
            <a:spLocks noGrp="1"/>
          </p:cNvSpPr>
          <p:nvPr>
            <p:ph type="body"/>
          </p:nvPr>
        </p:nvSpPr>
        <p:spPr>
          <a:xfrm>
            <a:off x="3575160" y="272880"/>
            <a:ext cx="5109120" cy="585072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rgbClr val="000000"/>
              </a:solidFill>
              <a:effectLst/>
              <a:uFillTx/>
              <a:latin typeface="Arial"/>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rgbClr val="000000"/>
              </a:solidFill>
              <a:effectLst/>
              <a:uFillTx/>
              <a:latin typeface="Arial"/>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rgbClr val="000000"/>
              </a:solidFill>
              <a:effectLst/>
              <a:uFillTx/>
              <a:latin typeface="Arial"/>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rgbClr val="000000"/>
              </a:solidFill>
              <a:effectLst/>
              <a:uFillTx/>
              <a:latin typeface="Arial"/>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rgbClr val="000000"/>
              </a:solidFill>
              <a:effectLst/>
              <a:uFillTx/>
              <a:latin typeface="Arial"/>
            </a:endParaRPr>
          </a:p>
        </p:txBody>
      </p:sp>
      <p:sp>
        <p:nvSpPr>
          <p:cNvPr id="70" name="PlaceHolder 3"/>
          <p:cNvSpPr>
            <a:spLocks noGrp="1"/>
          </p:cNvSpPr>
          <p:nvPr>
            <p:ph type="body"/>
          </p:nvPr>
        </p:nvSpPr>
        <p:spPr>
          <a:xfrm>
            <a:off x="457200" y="1434960"/>
            <a:ext cx="3005640" cy="468864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rgbClr val="000000"/>
              </a:solidFill>
              <a:effectLst/>
              <a:uFillTx/>
              <a:latin typeface="Arial"/>
            </a:endParaRPr>
          </a:p>
        </p:txBody>
      </p:sp>
      <p:sp>
        <p:nvSpPr>
          <p:cNvPr id="71" name="PlaceHolder 4"/>
          <p:cNvSpPr>
            <a:spLocks noGrp="1"/>
          </p:cNvSpPr>
          <p:nvPr>
            <p:ph type="dt" idx="40"/>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72" name="PlaceHolder 5"/>
          <p:cNvSpPr>
            <a:spLocks noGrp="1"/>
          </p:cNvSpPr>
          <p:nvPr>
            <p:ph type="ftr" idx="41"/>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73" name="PlaceHolder 6"/>
          <p:cNvSpPr>
            <a:spLocks noGrp="1"/>
          </p:cNvSpPr>
          <p:nvPr>
            <p:ph type="sldNum" idx="42"/>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CA8D1614-1FD4-4054-8521-ECB9D80E1A48}"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74" name="PlaceHolder 1"/>
          <p:cNvSpPr>
            <a:spLocks noGrp="1"/>
          </p:cNvSpPr>
          <p:nvPr>
            <p:ph type="title"/>
          </p:nvPr>
        </p:nvSpPr>
        <p:spPr>
          <a:xfrm>
            <a:off x="1792440" y="4800600"/>
            <a:ext cx="5483880" cy="564120"/>
          </a:xfrm>
          <a:prstGeom prst="rect">
            <a:avLst/>
          </a:prstGeom>
          <a:noFill/>
          <a:ln w="0">
            <a:noFill/>
          </a:ln>
        </p:spPr>
        <p:txBody>
          <a:bodyPr lIns="91440" rIns="91440" tIns="45720" bIns="45720" anchor="b">
            <a:noAutofit/>
          </a:bodyPr>
          <a:p>
            <a:pPr indent="0" defTabSz="457200">
              <a:lnSpc>
                <a:spcPct val="100000"/>
              </a:lnSpc>
              <a:buNone/>
              <a:tabLst>
                <a:tab algn="l" pos="0"/>
              </a:tabLst>
            </a:pPr>
            <a:r>
              <a:rPr b="1" lang="en-US" sz="2000" strike="noStrike" u="none">
                <a:solidFill>
                  <a:schemeClr val="dk1"/>
                </a:solidFill>
                <a:effectLst/>
                <a:uFillTx/>
                <a:latin typeface="Calibri"/>
              </a:rPr>
              <a:t>Click to edit Master title style</a:t>
            </a:r>
            <a:endParaRPr b="0" lang="en-US" sz="2000" strike="noStrike" u="none">
              <a:solidFill>
                <a:srgbClr val="000000"/>
              </a:solidFill>
              <a:effectLst/>
              <a:uFillTx/>
              <a:latin typeface="Arial"/>
            </a:endParaRPr>
          </a:p>
        </p:txBody>
      </p:sp>
      <p:sp>
        <p:nvSpPr>
          <p:cNvPr id="75" name="PlaceHolder 2"/>
          <p:cNvSpPr>
            <a:spLocks noGrp="1"/>
          </p:cNvSpPr>
          <p:nvPr>
            <p:ph type="body"/>
          </p:nvPr>
        </p:nvSpPr>
        <p:spPr>
          <a:xfrm>
            <a:off x="1792440" y="612720"/>
            <a:ext cx="5483880" cy="4112280"/>
          </a:xfrm>
          <a:prstGeom prst="rect">
            <a:avLst/>
          </a:prstGeom>
          <a:no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rgbClr val="000000"/>
              </a:solidFill>
              <a:effectLst/>
              <a:uFillTx/>
              <a:latin typeface="Arial"/>
            </a:endParaRPr>
          </a:p>
        </p:txBody>
      </p:sp>
      <p:sp>
        <p:nvSpPr>
          <p:cNvPr id="76" name="PlaceHolder 3"/>
          <p:cNvSpPr>
            <a:spLocks noGrp="1"/>
          </p:cNvSpPr>
          <p:nvPr>
            <p:ph type="body"/>
          </p:nvPr>
        </p:nvSpPr>
        <p:spPr>
          <a:xfrm>
            <a:off x="1792440" y="5367240"/>
            <a:ext cx="5483880" cy="80244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rgbClr val="000000"/>
              </a:solidFill>
              <a:effectLst/>
              <a:uFillTx/>
              <a:latin typeface="Arial"/>
            </a:endParaRPr>
          </a:p>
        </p:txBody>
      </p:sp>
      <p:sp>
        <p:nvSpPr>
          <p:cNvPr id="77" name="PlaceHolder 4"/>
          <p:cNvSpPr>
            <a:spLocks noGrp="1"/>
          </p:cNvSpPr>
          <p:nvPr>
            <p:ph type="dt" idx="43"/>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78" name="PlaceHolder 5"/>
          <p:cNvSpPr>
            <a:spLocks noGrp="1"/>
          </p:cNvSpPr>
          <p:nvPr>
            <p:ph type="ftr" idx="44"/>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79" name="PlaceHolder 6"/>
          <p:cNvSpPr>
            <a:spLocks noGrp="1"/>
          </p:cNvSpPr>
          <p:nvPr>
            <p:ph type="sldNum" idx="45"/>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8863B576-4075-4D56-9D7B-771A70295D97}"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685800" y="2130480"/>
            <a:ext cx="7769880" cy="146736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trike="noStrike" u="none">
                <a:solidFill>
                  <a:schemeClr val="dk1"/>
                </a:solidFill>
                <a:effectLst/>
                <a:uFillTx/>
                <a:latin typeface="Calibri"/>
              </a:rPr>
              <a:t>Click to edit Master title style</a:t>
            </a:r>
            <a:endParaRPr b="0" lang="en-US" sz="4400" strike="noStrike" u="none">
              <a:solidFill>
                <a:srgbClr val="000000"/>
              </a:solidFill>
              <a:effectLst/>
              <a:uFillTx/>
              <a:latin typeface="Arial"/>
            </a:endParaRPr>
          </a:p>
        </p:txBody>
      </p:sp>
      <p:sp>
        <p:nvSpPr>
          <p:cNvPr id="81" name="PlaceHolder 2"/>
          <p:cNvSpPr>
            <a:spLocks noGrp="1"/>
          </p:cNvSpPr>
          <p:nvPr>
            <p:ph type="dt" idx="46"/>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82" name="PlaceHolder 3"/>
          <p:cNvSpPr>
            <a:spLocks noGrp="1"/>
          </p:cNvSpPr>
          <p:nvPr>
            <p:ph type="ftr" idx="47"/>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3" name="PlaceHolder 4"/>
          <p:cNvSpPr>
            <a:spLocks noGrp="1"/>
          </p:cNvSpPr>
          <p:nvPr>
            <p:ph type="sldNum" idx="48"/>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FB39C920-0F02-4F96-80F3-B053E2AF052F}"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74680"/>
            <a:ext cx="8227080" cy="11404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trike="noStrike" u="none">
                <a:solidFill>
                  <a:schemeClr val="dk1"/>
                </a:solidFill>
                <a:effectLst/>
                <a:uFillTx/>
                <a:latin typeface="Calibri"/>
              </a:rPr>
              <a:t>Click to edit Master title style</a:t>
            </a:r>
            <a:endParaRPr b="0" lang="en-US" sz="4400" strike="noStrike" u="none">
              <a:solidFill>
                <a:srgbClr val="000000"/>
              </a:solidFill>
              <a:effectLst/>
              <a:uFillTx/>
              <a:latin typeface="Arial"/>
            </a:endParaRPr>
          </a:p>
        </p:txBody>
      </p:sp>
      <p:sp>
        <p:nvSpPr>
          <p:cNvPr id="85" name="PlaceHolder 2"/>
          <p:cNvSpPr>
            <a:spLocks noGrp="1"/>
          </p:cNvSpPr>
          <p:nvPr>
            <p:ph type="body"/>
          </p:nvPr>
        </p:nvSpPr>
        <p:spPr>
          <a:xfrm>
            <a:off x="457200" y="1600200"/>
            <a:ext cx="8227080" cy="452340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rgbClr val="000000"/>
              </a:solidFill>
              <a:effectLst/>
              <a:uFillTx/>
              <a:latin typeface="Arial"/>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rgbClr val="000000"/>
              </a:solidFill>
              <a:effectLst/>
              <a:uFillTx/>
              <a:latin typeface="Arial"/>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rgbClr val="000000"/>
              </a:solidFill>
              <a:effectLst/>
              <a:uFillTx/>
              <a:latin typeface="Arial"/>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rgbClr val="000000"/>
              </a:solidFill>
              <a:effectLst/>
              <a:uFillTx/>
              <a:latin typeface="Arial"/>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rgbClr val="000000"/>
              </a:solidFill>
              <a:effectLst/>
              <a:uFillTx/>
              <a:latin typeface="Arial"/>
            </a:endParaRPr>
          </a:p>
        </p:txBody>
      </p:sp>
      <p:sp>
        <p:nvSpPr>
          <p:cNvPr id="86" name="PlaceHolder 3"/>
          <p:cNvSpPr>
            <a:spLocks noGrp="1"/>
          </p:cNvSpPr>
          <p:nvPr>
            <p:ph type="dt" idx="49"/>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87" name="PlaceHolder 4"/>
          <p:cNvSpPr>
            <a:spLocks noGrp="1"/>
          </p:cNvSpPr>
          <p:nvPr>
            <p:ph type="ftr" idx="50"/>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8" name="PlaceHolder 5"/>
          <p:cNvSpPr>
            <a:spLocks noGrp="1"/>
          </p:cNvSpPr>
          <p:nvPr>
            <p:ph type="sldNum" idx="51"/>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6EE591A7-A323-410A-A508-AA93012D9237}"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89" name="PlaceHolder 1"/>
          <p:cNvSpPr>
            <a:spLocks noGrp="1"/>
          </p:cNvSpPr>
          <p:nvPr>
            <p:ph type="title"/>
          </p:nvPr>
        </p:nvSpPr>
        <p:spPr>
          <a:xfrm>
            <a:off x="6629400" y="274680"/>
            <a:ext cx="2054880" cy="5848920"/>
          </a:xfrm>
          <a:prstGeom prst="rect">
            <a:avLst/>
          </a:prstGeom>
          <a:noFill/>
          <a:ln w="0">
            <a:noFill/>
          </a:ln>
        </p:spPr>
        <p:txBody>
          <a:bodyPr lIns="91440" rIns="91440" tIns="45720" bIns="45720" anchor="ctr" vert="eaVert">
            <a:noAutofit/>
          </a:bodyPr>
          <a:p>
            <a:pPr indent="0" algn="ctr" defTabSz="457200">
              <a:lnSpc>
                <a:spcPct val="100000"/>
              </a:lnSpc>
              <a:buNone/>
              <a:tabLst>
                <a:tab algn="l" pos="0"/>
              </a:tabLst>
            </a:pPr>
            <a:r>
              <a:rPr b="0" lang="en-US" sz="4400" strike="noStrike" u="none">
                <a:solidFill>
                  <a:schemeClr val="dk1"/>
                </a:solidFill>
                <a:effectLst/>
                <a:uFillTx/>
                <a:latin typeface="Calibri"/>
              </a:rPr>
              <a:t>Click to edit Master title style</a:t>
            </a:r>
            <a:endParaRPr b="0" lang="en-US" sz="4400" strike="noStrike" u="none">
              <a:solidFill>
                <a:srgbClr val="000000"/>
              </a:solidFill>
              <a:effectLst/>
              <a:uFillTx/>
              <a:latin typeface="Arial"/>
            </a:endParaRPr>
          </a:p>
        </p:txBody>
      </p:sp>
      <p:sp>
        <p:nvSpPr>
          <p:cNvPr id="90" name="PlaceHolder 2"/>
          <p:cNvSpPr>
            <a:spLocks noGrp="1"/>
          </p:cNvSpPr>
          <p:nvPr>
            <p:ph type="body"/>
          </p:nvPr>
        </p:nvSpPr>
        <p:spPr>
          <a:xfrm>
            <a:off x="457200" y="274680"/>
            <a:ext cx="6017400" cy="584892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rgbClr val="000000"/>
              </a:solidFill>
              <a:effectLst/>
              <a:uFillTx/>
              <a:latin typeface="Arial"/>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rgbClr val="000000"/>
              </a:solidFill>
              <a:effectLst/>
              <a:uFillTx/>
              <a:latin typeface="Arial"/>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rgbClr val="000000"/>
              </a:solidFill>
              <a:effectLst/>
              <a:uFillTx/>
              <a:latin typeface="Arial"/>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rgbClr val="000000"/>
              </a:solidFill>
              <a:effectLst/>
              <a:uFillTx/>
              <a:latin typeface="Arial"/>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rgbClr val="000000"/>
              </a:solidFill>
              <a:effectLst/>
              <a:uFillTx/>
              <a:latin typeface="Arial"/>
            </a:endParaRPr>
          </a:p>
        </p:txBody>
      </p:sp>
      <p:sp>
        <p:nvSpPr>
          <p:cNvPr id="91" name="PlaceHolder 3"/>
          <p:cNvSpPr>
            <a:spLocks noGrp="1"/>
          </p:cNvSpPr>
          <p:nvPr>
            <p:ph type="dt" idx="52"/>
          </p:nvPr>
        </p:nvSpPr>
        <p:spPr>
          <a:xfrm>
            <a:off x="457200" y="6356520"/>
            <a:ext cx="2131200" cy="3625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92" name="PlaceHolder 4"/>
          <p:cNvSpPr>
            <a:spLocks noGrp="1"/>
          </p:cNvSpPr>
          <p:nvPr>
            <p:ph type="ftr" idx="53"/>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3" name="PlaceHolder 5"/>
          <p:cNvSpPr>
            <a:spLocks noGrp="1"/>
          </p:cNvSpPr>
          <p:nvPr>
            <p:ph type="sldNum" idx="54"/>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08B02385-B576-4961-AFCC-3943852CA088}"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3600"/>
            <a:ext cx="8227080" cy="114264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02" name="PlaceHolder 2"/>
          <p:cNvSpPr>
            <a:spLocks noGrp="1"/>
          </p:cNvSpPr>
          <p:nvPr>
            <p:ph/>
          </p:nvPr>
        </p:nvSpPr>
        <p:spPr>
          <a:xfrm>
            <a:off x="457200" y="1604520"/>
            <a:ext cx="4014720" cy="18961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103" name="PlaceHolder 3"/>
          <p:cNvSpPr>
            <a:spLocks noGrp="1"/>
          </p:cNvSpPr>
          <p:nvPr>
            <p:ph/>
          </p:nvPr>
        </p:nvSpPr>
        <p:spPr>
          <a:xfrm>
            <a:off x="4673160" y="1604520"/>
            <a:ext cx="4014720" cy="18961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104" name="PlaceHolder 4"/>
          <p:cNvSpPr>
            <a:spLocks noGrp="1"/>
          </p:cNvSpPr>
          <p:nvPr>
            <p:ph/>
          </p:nvPr>
        </p:nvSpPr>
        <p:spPr>
          <a:xfrm>
            <a:off x="457200" y="3681000"/>
            <a:ext cx="8227080" cy="18961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6" name="PlaceHolder 5"/>
          <p:cNvSpPr>
            <a:spLocks noGrp="1"/>
          </p:cNvSpPr>
          <p:nvPr>
            <p:ph type="ftr" idx="55"/>
          </p:nvPr>
        </p:nvSpPr>
        <p:spPr/>
        <p:txBody>
          <a:bodyPr/>
          <a:p>
            <a:r>
              <a:t>Footer</a:t>
            </a:r>
          </a:p>
        </p:txBody>
      </p:sp>
      <p:sp>
        <p:nvSpPr>
          <p:cNvPr id="7" name="PlaceHolder 6"/>
          <p:cNvSpPr>
            <a:spLocks noGrp="1"/>
          </p:cNvSpPr>
          <p:nvPr>
            <p:ph type="sldNum" idx="56"/>
          </p:nvPr>
        </p:nvSpPr>
        <p:spPr/>
        <p:txBody>
          <a:bodyPr/>
          <a:p>
            <a:fld id="{EBFFBCEB-FAE1-4F57-938D-C139BA34D035}" type="slidenum">
              <a:t>&lt;#&gt;</a:t>
            </a:fld>
          </a:p>
        </p:txBody>
      </p:sp>
      <p:sp>
        <p:nvSpPr>
          <p:cNvPr id="8" name="PlaceHolder 7"/>
          <p:cNvSpPr>
            <a:spLocks noGrp="1"/>
          </p:cNvSpPr>
          <p:nvPr>
            <p:ph type="dt" idx="57"/>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7">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708120"/>
            <a:ext cx="822708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06" name="PlaceHolder 2"/>
          <p:cNvSpPr>
            <a:spLocks noGrp="1"/>
          </p:cNvSpPr>
          <p:nvPr>
            <p:ph type="body"/>
          </p:nvPr>
        </p:nvSpPr>
        <p:spPr>
          <a:xfrm>
            <a:off x="457200" y="1604520"/>
            <a:ext cx="8227080" cy="39751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8">
    <p:spTree>
      <p:nvGrpSpPr>
        <p:cNvPr id="1" name=""/>
        <p:cNvGrpSpPr/>
        <p:nvPr/>
      </p:nvGrpSpPr>
      <p:grpSpPr>
        <a:xfrm>
          <a:off x="0" y="0"/>
          <a:ext cx="0" cy="0"/>
          <a:chOff x="0" y="0"/>
          <a:chExt cx="0" cy="0"/>
        </a:xfrm>
      </p:grpSpPr>
      <p:sp>
        <p:nvSpPr>
          <p:cNvPr id="2" name="PlaceHolder 1"/>
          <p:cNvSpPr>
            <a:spLocks noGrp="1"/>
          </p:cNvSpPr>
          <p:nvPr>
            <p:ph type="ftr" idx="58"/>
          </p:nvPr>
        </p:nvSpPr>
        <p:spPr/>
        <p:txBody>
          <a:bodyPr/>
          <a:p>
            <a:r>
              <a:t>Footer</a:t>
            </a:r>
          </a:p>
        </p:txBody>
      </p:sp>
      <p:sp>
        <p:nvSpPr>
          <p:cNvPr id="3" name="PlaceHolder 2"/>
          <p:cNvSpPr>
            <a:spLocks noGrp="1"/>
          </p:cNvSpPr>
          <p:nvPr>
            <p:ph type="sldNum" idx="59"/>
          </p:nvPr>
        </p:nvSpPr>
        <p:spPr/>
        <p:txBody>
          <a:bodyPr/>
          <a:p>
            <a:fld id="{17B67014-3AC1-4949-B894-521E673E8450}" type="slidenum">
              <a:t>&lt;#&gt;</a:t>
            </a:fld>
          </a:p>
        </p:txBody>
      </p:sp>
      <p:sp>
        <p:nvSpPr>
          <p:cNvPr id="4" name="PlaceHolder 3"/>
          <p:cNvSpPr>
            <a:spLocks noGrp="1"/>
          </p:cNvSpPr>
          <p:nvPr>
            <p:ph type="dt" idx="60"/>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61"/>
          </p:nvPr>
        </p:nvSpPr>
        <p:spPr/>
        <p:txBody>
          <a:bodyPr/>
          <a:p>
            <a:r>
              <a:t>Footer</a:t>
            </a:r>
          </a:p>
        </p:txBody>
      </p:sp>
      <p:sp>
        <p:nvSpPr>
          <p:cNvPr id="3" name="PlaceHolder 2"/>
          <p:cNvSpPr>
            <a:spLocks noGrp="1"/>
          </p:cNvSpPr>
          <p:nvPr>
            <p:ph type="sldNum" idx="62"/>
          </p:nvPr>
        </p:nvSpPr>
        <p:spPr/>
        <p:txBody>
          <a:bodyPr/>
          <a:p>
            <a:fld id="{94772FBE-B6B4-4A58-80CF-E1BB68C19F01}" type="slidenum">
              <a:t>&lt;#&gt;</a:t>
            </a:fld>
          </a:p>
        </p:txBody>
      </p:sp>
      <p:sp>
        <p:nvSpPr>
          <p:cNvPr id="4" name="PlaceHolder 3"/>
          <p:cNvSpPr>
            <a:spLocks noGrp="1"/>
          </p:cNvSpPr>
          <p:nvPr>
            <p:ph type="dt" idx="6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
</Relationships>
</file>

<file path=ppt/slideMasters/_rels/slideMaster18.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9.xml"/>
</Relationships>
</file>

<file path=ppt/slideMasters/_rels/slideMaster19.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0.xml"/><Relationship Id="rId3" Type="http://schemas.openxmlformats.org/officeDocument/2006/relationships/slideLayout" Target="../slideLayouts/slideLayout21.xml"/>
</Relationships>
</file>

<file path=ppt/slideMasters/_rels/slideMaster21.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22.xml"/>
</Relationships>
</file>

<file path=ppt/slideMasters/_rels/slideMaster22.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2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707400"/>
            <a:ext cx="8227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5" name="PlaceHolder 2"/>
          <p:cNvSpPr>
            <a:spLocks noGrp="1"/>
          </p:cNvSpPr>
          <p:nvPr>
            <p:ph type="body"/>
          </p:nvPr>
        </p:nvSpPr>
        <p:spPr>
          <a:xfrm>
            <a:off x="457200" y="1604520"/>
            <a:ext cx="4014360" cy="1895760"/>
          </a:xfrm>
          <a:prstGeom prst="rect">
            <a:avLst/>
          </a:prstGeom>
          <a:noFill/>
          <a:ln w="0">
            <a:noFill/>
          </a:ln>
        </p:spPr>
        <p:txBody>
          <a:bodyPr lIns="0" rIns="0" tIns="0" bIns="0" anchor="t">
            <a:normAutofit fontScale="700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6" name="PlaceHolder 3"/>
          <p:cNvSpPr>
            <a:spLocks noGrp="1"/>
          </p:cNvSpPr>
          <p:nvPr>
            <p:ph type="body"/>
          </p:nvPr>
        </p:nvSpPr>
        <p:spPr>
          <a:xfrm>
            <a:off x="4673160" y="1604520"/>
            <a:ext cx="4014360" cy="1895760"/>
          </a:xfrm>
          <a:prstGeom prst="rect">
            <a:avLst/>
          </a:prstGeom>
          <a:noFill/>
          <a:ln w="0">
            <a:noFill/>
          </a:ln>
        </p:spPr>
        <p:txBody>
          <a:bodyPr lIns="0" rIns="0" tIns="0" bIns="0" anchor="t">
            <a:normAutofit fontScale="700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7" name="PlaceHolder 4"/>
          <p:cNvSpPr>
            <a:spLocks noGrp="1"/>
          </p:cNvSpPr>
          <p:nvPr>
            <p:ph type="body"/>
          </p:nvPr>
        </p:nvSpPr>
        <p:spPr>
          <a:xfrm>
            <a:off x="457200" y="3681000"/>
            <a:ext cx="8227080" cy="189576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8" name="PlaceHolder 5"/>
          <p:cNvSpPr>
            <a:spLocks noGrp="1"/>
          </p:cNvSpPr>
          <p:nvPr>
            <p:ph type="ftr" idx="55"/>
          </p:nvPr>
        </p:nvSpPr>
        <p:spPr>
          <a:xfrm>
            <a:off x="3126960" y="6246720"/>
            <a:ext cx="2885760" cy="456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9" name="PlaceHolder 6"/>
          <p:cNvSpPr>
            <a:spLocks noGrp="1"/>
          </p:cNvSpPr>
          <p:nvPr>
            <p:ph type="sldNum" idx="56"/>
          </p:nvPr>
        </p:nvSpPr>
        <p:spPr>
          <a:xfrm>
            <a:off x="6555600" y="6246720"/>
            <a:ext cx="2117880" cy="456480"/>
          </a:xfrm>
          <a:prstGeom prst="rect">
            <a:avLst/>
          </a:prstGeom>
          <a:noFill/>
          <a:ln w="0">
            <a:noFill/>
          </a:ln>
        </p:spPr>
        <p:txBody>
          <a:bodyPr lIns="0" rIns="0" tIns="0" bIns="0" anchor="t">
            <a:noAutofit/>
          </a:bodyPr>
          <a:lstStyle>
            <a:lvl1pPr indent="0" algn="r">
              <a:lnSpc>
                <a:spcPct val="100000"/>
              </a:lnSpc>
              <a:buNone/>
              <a:tabLst>
                <a:tab algn="l" pos="0"/>
              </a:tabLst>
              <a:defRPr b="0" lang="en-IN" sz="1400" strike="noStrike" u="none">
                <a:solidFill>
                  <a:srgbClr val="000000"/>
                </a:solidFill>
                <a:effectLst/>
                <a:uFillTx/>
                <a:latin typeface="Times New Roman"/>
              </a:defRPr>
            </a:lvl1pPr>
          </a:lstStyle>
          <a:p>
            <a:pPr indent="0" algn="r">
              <a:lnSpc>
                <a:spcPct val="100000"/>
              </a:lnSpc>
              <a:buNone/>
              <a:tabLst>
                <a:tab algn="l" pos="0"/>
              </a:tabLst>
            </a:pPr>
            <a:fld id="{8A537B4D-D8B1-4238-A250-4BFD464176C9}" type="slidenum">
              <a:rPr b="0" lang="en-IN"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00" name="PlaceHolder 7"/>
          <p:cNvSpPr>
            <a:spLocks noGrp="1"/>
          </p:cNvSpPr>
          <p:nvPr>
            <p:ph type="dt" idx="57"/>
          </p:nvPr>
        </p:nvSpPr>
        <p:spPr>
          <a:xfrm>
            <a:off x="456840" y="6246720"/>
            <a:ext cx="2117880" cy="4564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8"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0" r:id="rId2"/>
    <p:sldLayoutId id="2147483671" r:id="rId3"/>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ftr" idx="58"/>
          </p:nvPr>
        </p:nvSpPr>
        <p:spPr>
          <a:xfrm>
            <a:off x="3126960" y="6246720"/>
            <a:ext cx="2885760" cy="456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08" name="PlaceHolder 2"/>
          <p:cNvSpPr>
            <a:spLocks noGrp="1"/>
          </p:cNvSpPr>
          <p:nvPr>
            <p:ph type="sldNum" idx="59"/>
          </p:nvPr>
        </p:nvSpPr>
        <p:spPr>
          <a:xfrm>
            <a:off x="6555600" y="6246720"/>
            <a:ext cx="2117880" cy="456480"/>
          </a:xfrm>
          <a:prstGeom prst="rect">
            <a:avLst/>
          </a:prstGeom>
          <a:noFill/>
          <a:ln w="0">
            <a:noFill/>
          </a:ln>
        </p:spPr>
        <p:txBody>
          <a:bodyPr lIns="0" rIns="0" tIns="0" bIns="0" anchor="t">
            <a:noAutofit/>
          </a:bodyPr>
          <a:lstStyle>
            <a:lvl1pPr indent="0" algn="r">
              <a:lnSpc>
                <a:spcPct val="100000"/>
              </a:lnSpc>
              <a:buNone/>
              <a:tabLst>
                <a:tab algn="l" pos="0"/>
              </a:tabLst>
              <a:defRPr b="0" lang="en-IN" sz="1400" strike="noStrike" u="none">
                <a:solidFill>
                  <a:srgbClr val="000000"/>
                </a:solidFill>
                <a:effectLst/>
                <a:uFillTx/>
                <a:latin typeface="Times New Roman"/>
              </a:defRPr>
            </a:lvl1pPr>
          </a:lstStyle>
          <a:p>
            <a:pPr indent="0" algn="r">
              <a:lnSpc>
                <a:spcPct val="100000"/>
              </a:lnSpc>
              <a:buNone/>
              <a:tabLst>
                <a:tab algn="l" pos="0"/>
              </a:tabLst>
            </a:pPr>
            <a:fld id="{DBAED12F-29A5-45AF-BC3D-E7CEFB26EE9F}" type="slidenum">
              <a:rPr b="0" lang="en-IN"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09" name="PlaceHolder 3"/>
          <p:cNvSpPr>
            <a:spLocks noGrp="1"/>
          </p:cNvSpPr>
          <p:nvPr>
            <p:ph type="dt" idx="60"/>
          </p:nvPr>
        </p:nvSpPr>
        <p:spPr>
          <a:xfrm>
            <a:off x="456840" y="6246720"/>
            <a:ext cx="2117880" cy="4564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10"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11"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73"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ftr" idx="61"/>
          </p:nvPr>
        </p:nvSpPr>
        <p:spPr>
          <a:xfrm>
            <a:off x="3126960" y="6246720"/>
            <a:ext cx="2885760" cy="456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13" name="PlaceHolder 2"/>
          <p:cNvSpPr>
            <a:spLocks noGrp="1"/>
          </p:cNvSpPr>
          <p:nvPr>
            <p:ph type="sldNum" idx="62"/>
          </p:nvPr>
        </p:nvSpPr>
        <p:spPr>
          <a:xfrm>
            <a:off x="6555600" y="6246720"/>
            <a:ext cx="2117880" cy="456480"/>
          </a:xfrm>
          <a:prstGeom prst="rect">
            <a:avLst/>
          </a:prstGeom>
          <a:noFill/>
          <a:ln w="0">
            <a:noFill/>
          </a:ln>
        </p:spPr>
        <p:txBody>
          <a:bodyPr lIns="0" rIns="0" tIns="0" bIns="0" anchor="t">
            <a:noAutofit/>
          </a:bodyPr>
          <a:lstStyle>
            <a:lvl1pPr indent="0" algn="r">
              <a:lnSpc>
                <a:spcPct val="100000"/>
              </a:lnSpc>
              <a:buNone/>
              <a:tabLst>
                <a:tab algn="l" pos="0"/>
              </a:tabLst>
              <a:defRPr b="0" lang="en-IN" sz="1400" strike="noStrike" u="none">
                <a:solidFill>
                  <a:srgbClr val="000000"/>
                </a:solidFill>
                <a:effectLst/>
                <a:uFillTx/>
                <a:latin typeface="Times New Roman"/>
              </a:defRPr>
            </a:lvl1pPr>
          </a:lstStyle>
          <a:p>
            <a:pPr indent="0" algn="r">
              <a:lnSpc>
                <a:spcPct val="100000"/>
              </a:lnSpc>
              <a:buNone/>
              <a:tabLst>
                <a:tab algn="l" pos="0"/>
              </a:tabLst>
            </a:pPr>
            <a:fld id="{E598E299-729D-4B22-9CEF-CC507A5A27B7}" type="slidenum">
              <a:rPr b="0" lang="en-IN"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14" name="PlaceHolder 3"/>
          <p:cNvSpPr>
            <a:spLocks noGrp="1"/>
          </p:cNvSpPr>
          <p:nvPr>
            <p:ph type="dt" idx="63"/>
          </p:nvPr>
        </p:nvSpPr>
        <p:spPr>
          <a:xfrm>
            <a:off x="456840" y="6246720"/>
            <a:ext cx="2117880" cy="4564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15"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16"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75"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slideLayout" Target="../slideLayouts/slideLayout21.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9.xml"/>
</Relationships>
</file>

<file path=ppt/slides/_rels/slide14.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TextBox 1"/>
          <p:cNvSpPr/>
          <p:nvPr/>
        </p:nvSpPr>
        <p:spPr>
          <a:xfrm>
            <a:off x="0" y="0"/>
            <a:ext cx="587880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XTRACK (A Coastal Altimetry Algorithm) product consists of ...</a:t>
            </a:r>
            <a:endParaRPr b="0" lang="en-US" sz="1800" strike="noStrike" u="none">
              <a:solidFill>
                <a:srgbClr val="000000"/>
              </a:solidFill>
              <a:effectLst/>
              <a:uFillTx/>
              <a:latin typeface="Arial"/>
            </a:endParaRPr>
          </a:p>
        </p:txBody>
      </p:sp>
      <p:sp>
        <p:nvSpPr>
          <p:cNvPr id="118" name="TextBox 2"/>
          <p:cNvSpPr/>
          <p:nvPr/>
        </p:nvSpPr>
        <p:spPr>
          <a:xfrm>
            <a:off x="92160" y="5807520"/>
            <a:ext cx="8592840" cy="82116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Composite overview of mission coverage and data validity across altimeter satellites. (a) Mission timelines showing each satellite’s observation period, annotated with number of tracks, temporal sampling frequency, and spatial sampling resolution. (b) Track-wise mean valid-point percentage for each satellite, with colored curves indicating within-mission variability. (c) Satellite-level mean of valid-point percentage, summarizing overall data-validity performance across missions. Panel colors are consistent between (b) and (c).</a:t>
            </a:r>
            <a:endParaRPr b="0" lang="en-US" sz="1200" strike="noStrike" u="none">
              <a:solidFill>
                <a:srgbClr val="000000"/>
              </a:solidFill>
              <a:effectLst/>
              <a:uFillTx/>
              <a:latin typeface="Arial"/>
            </a:endParaRPr>
          </a:p>
        </p:txBody>
      </p:sp>
      <p:pic>
        <p:nvPicPr>
          <p:cNvPr id="119" name="Picture 3" descr="sup01_satellite_mission_time_spans_new.png"/>
          <p:cNvPicPr/>
          <p:nvPr/>
        </p:nvPicPr>
        <p:blipFill>
          <a:blip r:embed="rId1"/>
          <a:stretch/>
        </p:blipFill>
        <p:spPr>
          <a:xfrm>
            <a:off x="2047680" y="457200"/>
            <a:ext cx="5037120" cy="528264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TextBox 1"/>
          <p:cNvSpPr/>
          <p:nvPr/>
        </p:nvSpPr>
        <p:spPr>
          <a:xfrm>
            <a:off x="0" y="0"/>
            <a:ext cx="638064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More SLA data and variability captured near the coast in XTRACK ...</a:t>
            </a:r>
            <a:endParaRPr b="0" lang="en-US" sz="1800" strike="noStrike" u="none">
              <a:solidFill>
                <a:srgbClr val="000000"/>
              </a:solidFill>
              <a:effectLst/>
              <a:uFillTx/>
              <a:latin typeface="Arial"/>
            </a:endParaRPr>
          </a:p>
        </p:txBody>
      </p:sp>
      <p:sp>
        <p:nvSpPr>
          <p:cNvPr id="121" name="TextBox 2"/>
          <p:cNvSpPr/>
          <p:nvPr/>
        </p:nvSpPr>
        <p:spPr>
          <a:xfrm>
            <a:off x="92160" y="5257800"/>
            <a:ext cx="8592840" cy="82044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Comparison of Sentinel-3A (S3A) sea level anomaly (SLA) data between X-TRACK and along-track Level-2+ (L2P) products for common ground tracks that are meeting the east coast of India. (a) Selected common S3A tracks plotted (black) over ETOPO5 bathymetry, with track numbers annotated in white. (b) Percentage of valid SLA observations available along-track plotted against GSHHG coastline distance, showing X-TRACK (blue) and L2P (red) individual track values (dots) and multi-track means (solid lines). The dashed vertical line in (b) and (c) marks the coastline. (c) Temporal standard deviation of SLA as a function of distance from coast for individual tracks (dots) and their multi-track mean (solid lines) from X-TRACK (blue) and L2P (red) products.</a:t>
            </a:r>
            <a:endParaRPr b="0" lang="en-US" sz="1200" strike="noStrike" u="none">
              <a:solidFill>
                <a:srgbClr val="000000"/>
              </a:solidFill>
              <a:effectLst/>
              <a:uFillTx/>
              <a:latin typeface="Arial"/>
            </a:endParaRPr>
          </a:p>
        </p:txBody>
      </p:sp>
      <p:pic>
        <p:nvPicPr>
          <p:cNvPr id="122" name="Picture 3" descr="fig01_f.combined_map_std_valid.S3A.png"/>
          <p:cNvPicPr/>
          <p:nvPr/>
        </p:nvPicPr>
        <p:blipFill>
          <a:blip r:embed="rId1"/>
          <a:stretch/>
        </p:blipFill>
        <p:spPr>
          <a:xfrm>
            <a:off x="92160" y="503280"/>
            <a:ext cx="8592840" cy="47527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3" name="" descr="28§latex§U_c_r = -\frac{g}{f} \frac{\partial h}{\partial s}§svg§600§TRUE§"/>
          <p:cNvPicPr/>
          <p:nvPr/>
        </p:nvPicPr>
        <p:blipFill>
          <a:blip r:embed="rId1">
            <a:extLst>
              <a:ext uri="{96DAC541-7B7A-43D3-8B79-37D633B846F1}">
                <asvg:svgBlip xmlns:asvg="http://schemas.microsoft.com/office/drawing/2016/SVG/main" r:embed="rId2"/>
              </a:ext>
            </a:extLst>
          </a:blip>
          <a:stretch/>
        </p:blipFill>
        <p:spPr>
          <a:xfrm>
            <a:off x="6256440" y="2057400"/>
            <a:ext cx="1744560" cy="584640"/>
          </a:xfrm>
          <a:prstGeom prst="rect">
            <a:avLst/>
          </a:prstGeom>
          <a:noFill/>
          <a:ln w="0">
            <a:noFill/>
          </a:ln>
        </p:spPr>
      </p:pic>
      <p:sp>
        <p:nvSpPr>
          <p:cNvPr id="124" name=""/>
          <p:cNvSpPr/>
          <p:nvPr/>
        </p:nvSpPr>
        <p:spPr>
          <a:xfrm>
            <a:off x="5640840" y="4572000"/>
            <a:ext cx="3333240" cy="821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where gc1 and gc2 are cross-track geostrophic velocities of the intersecting tracks</a:t>
            </a:r>
            <a:endParaRPr b="0" lang="en-US" sz="1600" strike="noStrike" u="none">
              <a:solidFill>
                <a:srgbClr val="000000"/>
              </a:solidFill>
              <a:effectLst/>
              <a:uFillTx/>
              <a:latin typeface="Arial"/>
            </a:endParaRPr>
          </a:p>
        </p:txBody>
      </p:sp>
      <p:pic>
        <p:nvPicPr>
          <p:cNvPr id="125" name="" descr="16§latex§\begin{align*}&#10;u &amp;= \frac{gc_1 \cos a_2 - gc_2 \cos a_1}{\sin(a_2 - a_1)} \\&#10;v &amp;= \frac{gc_2 \sin a_1 - gc_1 \sin a_2}{\sin(a_2 - a_1)}&#10;\end{align*}§svg§600§TRUE§"/>
          <p:cNvPicPr/>
          <p:nvPr/>
        </p:nvPicPr>
        <p:blipFill>
          <a:blip r:embed="rId3">
            <a:extLst>
              <a:ext uri="{96DAC541-7B7A-43D3-8B79-37D633B846F1}">
                <asvg:svgBlip xmlns:asvg="http://schemas.microsoft.com/office/drawing/2016/SVG/main" r:embed="rId4"/>
              </a:ext>
            </a:extLst>
          </a:blip>
          <a:stretch/>
        </p:blipFill>
        <p:spPr>
          <a:xfrm>
            <a:off x="6144480" y="3200400"/>
            <a:ext cx="2085120" cy="1173600"/>
          </a:xfrm>
          <a:prstGeom prst="rect">
            <a:avLst/>
          </a:prstGeom>
          <a:noFill/>
          <a:ln w="0">
            <a:noFill/>
          </a:ln>
        </p:spPr>
      </p:pic>
      <p:pic>
        <p:nvPicPr>
          <p:cNvPr id="126" name="" descr=""/>
          <p:cNvPicPr/>
          <p:nvPr/>
        </p:nvPicPr>
        <p:blipFill>
          <a:blip r:embed="rId5"/>
          <a:stretch/>
        </p:blipFill>
        <p:spPr>
          <a:xfrm>
            <a:off x="523080" y="1600200"/>
            <a:ext cx="4961520" cy="4080960"/>
          </a:xfrm>
          <a:prstGeom prst="rect">
            <a:avLst/>
          </a:prstGeom>
          <a:noFill/>
          <a:ln w="0">
            <a:noFill/>
          </a:ln>
        </p:spPr>
      </p:pic>
      <p:sp>
        <p:nvSpPr>
          <p:cNvPr id="127" name=""/>
          <p:cNvSpPr/>
          <p:nvPr/>
        </p:nvSpPr>
        <p:spPr>
          <a:xfrm>
            <a:off x="111600" y="457200"/>
            <a:ext cx="8574480" cy="638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trike="noStrike" u="none">
                <a:solidFill>
                  <a:srgbClr val="000000"/>
                </a:solidFill>
                <a:effectLst/>
                <a:uFillTx/>
                <a:latin typeface="Arial"/>
                <a:ea typeface="DejaVu Sans"/>
              </a:rPr>
              <a:t>In the open ocean, AVISO currents and XTRACK derived currents are mostly same</a:t>
            </a:r>
            <a:endParaRPr b="0" lang="en-US" sz="1800" strike="noStrike" u="none">
              <a:solidFill>
                <a:srgbClr val="000000"/>
              </a:solidFill>
              <a:effectLst/>
              <a:uFillTx/>
              <a:latin typeface="Arial"/>
            </a:endParaRPr>
          </a:p>
          <a:p>
            <a:pPr>
              <a:lnSpc>
                <a:spcPct val="100000"/>
              </a:lnSpc>
            </a:pPr>
            <a:r>
              <a:rPr b="0" lang="en-US" sz="1800" strike="noStrike" u="none">
                <a:solidFill>
                  <a:srgbClr val="000000"/>
                </a:solidFill>
                <a:effectLst/>
                <a:uFillTx/>
                <a:latin typeface="Arial"/>
                <a:ea typeface="DejaVu Sans"/>
              </a:rPr>
              <a:t>This indicated robustness of methodology used (smoothing techniques, maths)</a:t>
            </a:r>
            <a:endParaRPr b="0" lang="en-US" sz="1800" strike="noStrike" u="none">
              <a:solidFill>
                <a:srgbClr val="000000"/>
              </a:solidFill>
              <a:effectLst/>
              <a:uFillTx/>
              <a:latin typeface="Arial"/>
            </a:endParaRPr>
          </a:p>
        </p:txBody>
      </p:sp>
      <p:sp>
        <p:nvSpPr>
          <p:cNvPr id="128" name=""/>
          <p:cNvSpPr txBox="1"/>
          <p:nvPr/>
        </p:nvSpPr>
        <p:spPr>
          <a:xfrm>
            <a:off x="350640" y="6026760"/>
            <a:ext cx="8564760" cy="602640"/>
          </a:xfrm>
          <a:prstGeom prst="rect">
            <a:avLst/>
          </a:prstGeom>
          <a:noFill/>
          <a:ln w="0">
            <a:noFill/>
          </a:ln>
        </p:spPr>
        <p:txBody>
          <a:bodyPr lIns="90000" rIns="90000" tIns="45000" bIns="45000" anchor="t">
            <a:spAutoFit/>
          </a:bodyPr>
          <a:p>
            <a:r>
              <a:rPr b="0" lang="en-US" sz="1800" strike="noStrike" u="none">
                <a:solidFill>
                  <a:srgbClr val="000000"/>
                </a:solidFill>
                <a:effectLst/>
                <a:uFillTx/>
                <a:latin typeface="Arial"/>
              </a:rPr>
              <a:t>Here α1 and α2 are the heading angles (counter clockwise to the positive x-axis) of</a:t>
            </a:r>
            <a:endParaRPr b="0" lang="en-US" sz="1800" strike="noStrike" u="none">
              <a:solidFill>
                <a:srgbClr val="000000"/>
              </a:solidFill>
              <a:effectLst/>
              <a:uFillTx/>
              <a:latin typeface="Arial"/>
            </a:endParaRPr>
          </a:p>
          <a:p>
            <a:r>
              <a:rPr b="0" lang="en-US" sz="1800" strike="noStrike" u="none">
                <a:solidFill>
                  <a:srgbClr val="000000"/>
                </a:solidFill>
                <a:effectLst/>
                <a:uFillTx/>
                <a:latin typeface="Arial"/>
              </a:rPr>
              <a:t>the intersecting tracks</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TextBox 1"/>
          <p:cNvSpPr/>
          <p:nvPr/>
        </p:nvSpPr>
        <p:spPr>
          <a:xfrm>
            <a:off x="0" y="0"/>
            <a:ext cx="739224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An example of comparison of computed gu, corrected gu with observation ...  </a:t>
            </a:r>
            <a:endParaRPr b="0" lang="en-US" sz="1800" strike="noStrike" u="none">
              <a:solidFill>
                <a:srgbClr val="000000"/>
              </a:solidFill>
              <a:effectLst/>
              <a:uFillTx/>
              <a:latin typeface="Arial"/>
            </a:endParaRPr>
          </a:p>
        </p:txBody>
      </p:sp>
      <p:sp>
        <p:nvSpPr>
          <p:cNvPr id="130" name="TextBox 2"/>
          <p:cNvSpPr/>
          <p:nvPr/>
        </p:nvSpPr>
        <p:spPr>
          <a:xfrm>
            <a:off x="92880" y="5808240"/>
            <a:ext cx="8592840" cy="82116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b) Time series of geostrophic zonal component (black) derived at an intersection point (of track numbers 522 and 279 of S3A satellite mission) which is close to an OMNI buoy (BD10) overlied with buoy's zonal current(red). Timeseries of gu corrected with ekman u component(blue) and AVISO msla_uv at the intersection point(cyan) also added. a) Shows the intersection point(black) of the tracks and the close by bouy(red). It is rougly half a degree away from the intersection point.</a:t>
            </a:r>
            <a:endParaRPr b="0" lang="en-US" sz="1200" strike="noStrike" u="none">
              <a:solidFill>
                <a:srgbClr val="000000"/>
              </a:solidFill>
              <a:effectLst/>
              <a:uFillTx/>
              <a:latin typeface="Arial"/>
            </a:endParaRPr>
          </a:p>
        </p:txBody>
      </p:sp>
      <p:pic>
        <p:nvPicPr>
          <p:cNvPr id="131" name="Picture 3" descr="fig02_p.omni_uvVStrack_guv_c.ek.nearest.selected.png"/>
          <p:cNvPicPr/>
          <p:nvPr/>
        </p:nvPicPr>
        <p:blipFill>
          <a:blip r:embed="rId1"/>
          <a:stretch/>
        </p:blipFill>
        <p:spPr>
          <a:xfrm>
            <a:off x="228600" y="431280"/>
            <a:ext cx="7880040" cy="52826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2" name="" descr=""/>
          <p:cNvPicPr/>
          <p:nvPr/>
        </p:nvPicPr>
        <p:blipFill>
          <a:blip r:embed="rId1"/>
          <a:stretch/>
        </p:blipFill>
        <p:spPr>
          <a:xfrm>
            <a:off x="-5760" y="1373760"/>
            <a:ext cx="9143640" cy="41742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TextBox 1"/>
          <p:cNvSpPr/>
          <p:nvPr/>
        </p:nvSpPr>
        <p:spPr>
          <a:xfrm>
            <a:off x="0" y="0"/>
            <a:ext cx="712512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Title: An all point comparison at intersection points with RAMA and OMNI  </a:t>
            </a:r>
            <a:endParaRPr b="0" lang="en-US" sz="1800" strike="noStrike" u="none">
              <a:solidFill>
                <a:srgbClr val="000000"/>
              </a:solidFill>
              <a:effectLst/>
              <a:uFillTx/>
              <a:latin typeface="Arial"/>
            </a:endParaRPr>
          </a:p>
        </p:txBody>
      </p:sp>
      <p:sp>
        <p:nvSpPr>
          <p:cNvPr id="134" name="TextBox 2"/>
          <p:cNvSpPr/>
          <p:nvPr/>
        </p:nvSpPr>
        <p:spPr>
          <a:xfrm>
            <a:off x="92880" y="5122080"/>
            <a:ext cx="8592840" cy="82044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a) Scatter plot of rama buoys' zonal currents(y-axis) versus altimetry derived zonal currents(x-axis) at nearby intersection points. b) Shows scatter plot with altimetry derived currents corrected with ekman zonal currents. c) and d) show scatter plots of OMNI currents with and without Ekman correction against altimetry zonal currents. The colorbar shows density of points in the scatter plot in terms of count. A redline passing through the points indicates linear fit and white dashed line represents perfect fit as a reference. The number of points, correlations and standard errors are show in boxes in the upper left corner.</a:t>
            </a:r>
            <a:endParaRPr b="0" lang="en-US" sz="1200" strike="noStrike" u="none">
              <a:solidFill>
                <a:srgbClr val="000000"/>
              </a:solidFill>
              <a:effectLst/>
              <a:uFillTx/>
              <a:latin typeface="Arial"/>
            </a:endParaRPr>
          </a:p>
        </p:txBody>
      </p:sp>
      <p:pic>
        <p:nvPicPr>
          <p:cNvPr id="135" name="Picture 3" descr="fig03_p.scatter_omniVSrama_uVSgu_ww_ek.png"/>
          <p:cNvPicPr/>
          <p:nvPr/>
        </p:nvPicPr>
        <p:blipFill>
          <a:blip r:embed="rId1"/>
          <a:stretch/>
        </p:blipFill>
        <p:spPr>
          <a:xfrm>
            <a:off x="14760" y="457200"/>
            <a:ext cx="5470560" cy="4113720"/>
          </a:xfrm>
          <a:prstGeom prst="rect">
            <a:avLst/>
          </a:prstGeom>
          <a:noFill/>
          <a:ln w="0">
            <a:noFill/>
          </a:ln>
        </p:spPr>
      </p:pic>
      <p:sp>
        <p:nvSpPr>
          <p:cNvPr id="136" name=""/>
          <p:cNvSpPr/>
          <p:nvPr/>
        </p:nvSpPr>
        <p:spPr>
          <a:xfrm>
            <a:off x="5943600" y="685800"/>
            <a:ext cx="2860560" cy="11131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trike="noStrike" u="none">
                <a:solidFill>
                  <a:srgbClr val="000000"/>
                </a:solidFill>
                <a:effectLst/>
                <a:uFillTx/>
                <a:latin typeface="Arial"/>
              </a:rPr>
              <a:t>Ekman correction explains</a:t>
            </a:r>
            <a:endParaRPr b="0" lang="en-US" sz="1800" strike="noStrike" u="none">
              <a:solidFill>
                <a:srgbClr val="000000"/>
              </a:solidFill>
              <a:effectLst/>
              <a:uFillTx/>
              <a:latin typeface="Arial"/>
            </a:endParaRPr>
          </a:p>
          <a:p>
            <a:pPr>
              <a:lnSpc>
                <a:spcPct val="100000"/>
              </a:lnSpc>
            </a:pPr>
            <a:r>
              <a:rPr b="0" lang="en-US" sz="1800" strike="noStrike" u="none">
                <a:solidFill>
                  <a:srgbClr val="000000"/>
                </a:solidFill>
                <a:effectLst/>
                <a:uFillTx/>
                <a:latin typeface="Arial"/>
              </a:rPr>
              <a:t>An additional variance of </a:t>
            </a:r>
            <a:endParaRPr b="0" lang="en-US" sz="1800" strike="noStrike" u="none">
              <a:solidFill>
                <a:srgbClr val="000000"/>
              </a:solidFill>
              <a:effectLst/>
              <a:uFillTx/>
              <a:latin typeface="Arial"/>
            </a:endParaRPr>
          </a:p>
          <a:p>
            <a:pPr>
              <a:lnSpc>
                <a:spcPct val="100000"/>
              </a:lnSpc>
            </a:pPr>
            <a:r>
              <a:rPr b="0" lang="en-US" sz="1800" strike="noStrike" u="none">
                <a:solidFill>
                  <a:srgbClr val="000000"/>
                </a:solidFill>
                <a:effectLst/>
                <a:uFillTx/>
                <a:latin typeface="Arial"/>
              </a:rPr>
              <a:t>~7%. RMSE and BIAS are</a:t>
            </a:r>
            <a:endParaRPr b="0" lang="en-US" sz="1800" strike="noStrike" u="none">
              <a:solidFill>
                <a:srgbClr val="000000"/>
              </a:solidFill>
              <a:effectLst/>
              <a:uFillTx/>
              <a:latin typeface="Arial"/>
            </a:endParaRPr>
          </a:p>
          <a:p>
            <a:pPr>
              <a:lnSpc>
                <a:spcPct val="100000"/>
              </a:lnSpc>
            </a:pPr>
            <a:r>
              <a:rPr b="0" lang="en-US" sz="1800" strike="noStrike" u="none">
                <a:solidFill>
                  <a:srgbClr val="000000"/>
                </a:solidFill>
                <a:effectLst/>
                <a:uFillTx/>
                <a:latin typeface="Arial"/>
              </a:rPr>
              <a:t>Not significantly improved.</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TextBox 1"/>
          <p:cNvSpPr/>
          <p:nvPr/>
        </p:nvSpPr>
        <p:spPr>
          <a:xfrm>
            <a:off x="0" y="0"/>
            <a:ext cx="778392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An all point comparison at intersection points with drifter buoys &lt; 100km of coast </a:t>
            </a:r>
            <a:endParaRPr b="0" lang="en-US" sz="1800" strike="noStrike" u="none">
              <a:solidFill>
                <a:srgbClr val="000000"/>
              </a:solidFill>
              <a:effectLst/>
              <a:uFillTx/>
              <a:latin typeface="Arial"/>
            </a:endParaRPr>
          </a:p>
        </p:txBody>
      </p:sp>
      <p:sp>
        <p:nvSpPr>
          <p:cNvPr id="138" name="TextBox 2"/>
          <p:cNvSpPr/>
          <p:nvPr/>
        </p:nvSpPr>
        <p:spPr>
          <a:xfrm>
            <a:off x="92880" y="5579640"/>
            <a:ext cx="8592840" cy="82116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a) Scatter plot of drifters' zonal velocities versus altimetry derived velocities within 100km inshore of the coast for the satellite mission TP+J1+J2+J3+S6A. b) shows scatter plot with altimetry derived velocities corrected with ekman zonal velocities. The colorbar shows density of points in the scatter plot in terms of count. A redline passing through the points indicates linear fit and white dashed line represents perfect fit as a reference. The number of points, correlations and standard errors are shown in boxes in the upper left corner.</a:t>
            </a:r>
            <a:endParaRPr b="0" lang="en-US" sz="1200" strike="noStrike" u="none">
              <a:solidFill>
                <a:srgbClr val="000000"/>
              </a:solidFill>
              <a:effectLst/>
              <a:uFillTx/>
              <a:latin typeface="Arial"/>
            </a:endParaRPr>
          </a:p>
        </p:txBody>
      </p:sp>
      <p:pic>
        <p:nvPicPr>
          <p:cNvPr id="139" name="Picture 3" descr="fig04_p.scatter_drifter_ve_vs_gu_ww_ek.png"/>
          <p:cNvPicPr/>
          <p:nvPr/>
        </p:nvPicPr>
        <p:blipFill>
          <a:blip r:embed="rId1"/>
          <a:stretch/>
        </p:blipFill>
        <p:spPr>
          <a:xfrm>
            <a:off x="274320" y="1560240"/>
            <a:ext cx="8592840" cy="36619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TextBox 1"/>
          <p:cNvSpPr/>
          <p:nvPr/>
        </p:nvSpPr>
        <p:spPr>
          <a:xfrm>
            <a:off x="0" y="0"/>
            <a:ext cx="477864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Near shore currents validation extend to radars ...</a:t>
            </a:r>
            <a:endParaRPr b="0" lang="en-US" sz="1800" strike="noStrike" u="none">
              <a:solidFill>
                <a:srgbClr val="000000"/>
              </a:solidFill>
              <a:effectLst/>
              <a:uFillTx/>
              <a:latin typeface="Arial"/>
            </a:endParaRPr>
          </a:p>
        </p:txBody>
      </p:sp>
      <p:sp>
        <p:nvSpPr>
          <p:cNvPr id="141" name="TextBox 2"/>
          <p:cNvSpPr/>
          <p:nvPr/>
        </p:nvSpPr>
        <p:spPr>
          <a:xfrm>
            <a:off x="92880" y="5715000"/>
            <a:ext cx="8592840" cy="82044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Comparison of along-track cross-track velocity structure for the selected OR radar–altimeter intersection (track 165, S3A). (a) Map of the Bay of Bengal showing the selected Odisha radar region (OR) as polygon (shaded), satellite track segment, and intersection limits, with distance x measured from coast. (b) Time–distance section of geostrophic current plus Ekman component, (gc+uk). (c) Time–distance section of radar-derived velocity(rotated to cross track direction). (d) Skill metrics versus offshore distance: correlation (left axis; blue) and RMSE (right axis; red), each shown for cases without Ekman correction and with Ekman correction (legend). Only statistically significant correlations ((p&lt;0.05)) are retained.</a:t>
            </a:r>
            <a:endParaRPr b="0" lang="en-US" sz="1200" strike="noStrike" u="none">
              <a:solidFill>
                <a:srgbClr val="000000"/>
              </a:solidFill>
              <a:effectLst/>
              <a:uFillTx/>
              <a:latin typeface="Arial"/>
            </a:endParaRPr>
          </a:p>
        </p:txBody>
      </p:sp>
      <p:pic>
        <p:nvPicPr>
          <p:cNvPr id="142" name="Picture 3" descr="fig05_p.radar_rotatedVStrack_gc_c.ek.along.intersections.selected.one.png"/>
          <p:cNvPicPr/>
          <p:nvPr/>
        </p:nvPicPr>
        <p:blipFill>
          <a:blip r:embed="rId1"/>
          <a:stretch/>
        </p:blipFill>
        <p:spPr>
          <a:xfrm>
            <a:off x="136080" y="431280"/>
            <a:ext cx="6492240" cy="528264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TextBox 1"/>
          <p:cNvSpPr/>
          <p:nvPr/>
        </p:nvSpPr>
        <p:spPr>
          <a:xfrm>
            <a:off x="0" y="0"/>
            <a:ext cx="244692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EICC speed is decreasing</a:t>
            </a:r>
            <a:endParaRPr b="0" lang="en-US" sz="1800" strike="noStrike" u="none">
              <a:solidFill>
                <a:srgbClr val="000000"/>
              </a:solidFill>
              <a:effectLst/>
              <a:uFillTx/>
              <a:latin typeface="Arial"/>
            </a:endParaRPr>
          </a:p>
        </p:txBody>
      </p:sp>
      <p:sp>
        <p:nvSpPr>
          <p:cNvPr id="144" name="TextBox 2"/>
          <p:cNvSpPr/>
          <p:nvPr/>
        </p:nvSpPr>
        <p:spPr>
          <a:xfrm>
            <a:off x="75240" y="5069160"/>
            <a:ext cx="8592840" cy="82044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Long-term variability and linear trends of Ekman corrected geostrophic current speed at seven crossover points of the East India Coastal Current (EICC) derived from ERS-1/2, Envisat, and SARAL/AltiKa altimetry. (Left) Locations of the seven crossover points (A–G, south to north) along the eastern boundary of the Bay of Bengal (10°–22°N, 78°–88°E). Each point is colour-coded by its label; the annotated value is the linear trend in m s⁻¹ yr⁻¹ (greyed out where the trend is not significant at the 95% confidence level, p ≥ 0.05). Isobaths of 200m(skyblue) and 1000m(red) are added. (Right) 500-day low-pass filtered current speed (coloured line) and its linear trend fit (black dashed line) at each point. Background shading indicates the spring inter-monsoon (February–May, yellow), summer monsoon (June–September, cyan), and post-monsoon/early winter (October–December, grey) seasons. Point coordinates and contributing ground-track pairs are: A (80.26°E, 11.30°N; T868×T567), B (80.62°E, 12.89°N; T868×T23), C (80.98°E, 14.46°N; T868×T481), D (82.06°E, 16.01°N; T324×T395), E (83.86°E, 17.55°N; T238×T767), F (85.65°E, 19.07°N; T152×T137), and G (87.45°E, 20.57°N; T66×T509).</a:t>
            </a:r>
            <a:endParaRPr b="0" lang="en-US" sz="1200" strike="noStrike" u="none">
              <a:solidFill>
                <a:srgbClr val="000000"/>
              </a:solidFill>
              <a:effectLst/>
              <a:uFillTx/>
              <a:latin typeface="Arial"/>
            </a:endParaRPr>
          </a:p>
        </p:txBody>
      </p:sp>
      <p:pic>
        <p:nvPicPr>
          <p:cNvPr id="145" name="Picture 3" descr="fig06_p.speed_at_coastal_points.eicc.trends.all_in_one.ERS.png"/>
          <p:cNvPicPr/>
          <p:nvPr/>
        </p:nvPicPr>
        <p:blipFill>
          <a:blip r:embed="rId1"/>
          <a:stretch/>
        </p:blipFill>
        <p:spPr>
          <a:xfrm>
            <a:off x="173880" y="431280"/>
            <a:ext cx="5997240" cy="458388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TextBox 1"/>
          <p:cNvSpPr/>
          <p:nvPr/>
        </p:nvSpPr>
        <p:spPr>
          <a:xfrm>
            <a:off x="0" y="0"/>
            <a:ext cx="7841880" cy="6382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Trends of driving forces aka Windstress curl and SLA over Bay of Bengal gyre region</a:t>
            </a:r>
            <a:endParaRPr b="0" lang="en-US" sz="1800" strike="noStrike" u="none">
              <a:solidFill>
                <a:srgbClr val="000000"/>
              </a:solidFill>
              <a:effectLst/>
              <a:uFillTx/>
              <a:latin typeface="Arial"/>
            </a:endParaRPr>
          </a:p>
          <a:p>
            <a:pPr defTabSz="457200">
              <a:lnSpc>
                <a:spcPct val="100000"/>
              </a:lnSpc>
            </a:pPr>
            <a:r>
              <a:rPr b="0" lang="en-US" sz="1800" strike="noStrike" u="none">
                <a:solidFill>
                  <a:schemeClr val="dk1"/>
                </a:solidFill>
                <a:effectLst/>
                <a:uFillTx/>
                <a:latin typeface="Calibri"/>
              </a:rPr>
              <a:t>, Windstress(along shore and equatorial).</a:t>
            </a:r>
            <a:endParaRPr b="0" lang="en-US" sz="1800" strike="noStrike" u="none">
              <a:solidFill>
                <a:srgbClr val="000000"/>
              </a:solidFill>
              <a:effectLst/>
              <a:uFillTx/>
              <a:latin typeface="Arial"/>
            </a:endParaRPr>
          </a:p>
        </p:txBody>
      </p:sp>
      <p:sp>
        <p:nvSpPr>
          <p:cNvPr id="147" name="TextBox 2"/>
          <p:cNvSpPr/>
          <p:nvPr/>
        </p:nvSpPr>
        <p:spPr>
          <a:xfrm>
            <a:off x="0" y="5350680"/>
            <a:ext cx="8592840" cy="82044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Regional context and low-pass filtered variability of Bay of Bengal and equatorial Indian Ocean forcing/response. Left panel shows the analysis masks over the Indian Ocean: equatorial band (5°S-5°N, green hatch), Bay of Bengal gyre region (blue hatch), and Bay of Bengal along-shore region (red hatch). Right panels (a-d) show monthly area-averaged time series after applying a 500-day low-pass filter, with linear trend lines (black dashed): (a) Ekman pumping over the Bay of Bengal gyre mask, (b) sea-level anomaly over the Bay of Bengal gyre mask, (c) windstress magnitude over the Bay of Bengal along-shore mask, and (d) windstress magnitude over the equatorial band. Spatial means are cosine-latitude weighted, and Bay of Bengal masks are interpolated to each dataset grid before averaging.</a:t>
            </a:r>
            <a:endParaRPr b="0" lang="en-US" sz="1200" strike="noStrike" u="none">
              <a:solidFill>
                <a:srgbClr val="000000"/>
              </a:solidFill>
              <a:effectLst/>
              <a:uFillTx/>
              <a:latin typeface="Arial"/>
            </a:endParaRPr>
          </a:p>
        </p:txBody>
      </p:sp>
      <p:pic>
        <p:nvPicPr>
          <p:cNvPr id="148" name="Picture 3" descr="fig07_plot_indian_ocean_regions_and_timeseries_pumping.png"/>
          <p:cNvPicPr/>
          <p:nvPr/>
        </p:nvPicPr>
        <p:blipFill>
          <a:blip r:embed="rId1"/>
          <a:stretch/>
        </p:blipFill>
        <p:spPr>
          <a:xfrm>
            <a:off x="0" y="638280"/>
            <a:ext cx="7025400" cy="457776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
          <p:cNvSpPr/>
          <p:nvPr/>
        </p:nvSpPr>
        <p:spPr>
          <a:xfrm>
            <a:off x="914400" y="685800"/>
            <a:ext cx="4770720" cy="11127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endParaRPr b="0" lang="en-US" sz="1800" strike="noStrike" u="none">
              <a:solidFill>
                <a:srgbClr val="000000"/>
              </a:solidFill>
              <a:effectLst/>
              <a:uFillTx/>
              <a:latin typeface="Arial"/>
            </a:endParaRPr>
          </a:p>
        </p:txBody>
      </p:sp>
      <p:sp>
        <p:nvSpPr>
          <p:cNvPr id="150" name=""/>
          <p:cNvSpPr/>
          <p:nvPr/>
        </p:nvSpPr>
        <p:spPr>
          <a:xfrm>
            <a:off x="457200" y="457200"/>
            <a:ext cx="7542720" cy="44766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en-US" sz="1600" strike="noStrike" u="none">
                <a:solidFill>
                  <a:srgbClr val="00a933"/>
                </a:solidFill>
                <a:effectLst/>
                <a:uFillTx/>
                <a:latin typeface="Arial"/>
              </a:rPr>
              <a:t>Ideas: </a:t>
            </a:r>
            <a:endParaRPr b="0" lang="en-US" sz="1600" strike="noStrike" u="none">
              <a:solidFill>
                <a:srgbClr val="000000"/>
              </a:solidFill>
              <a:effectLst/>
              <a:uFillTx/>
              <a:latin typeface="Arial"/>
            </a:endParaRPr>
          </a:p>
          <a:p>
            <a:pPr algn="just">
              <a:lnSpc>
                <a:spcPct val="100000"/>
              </a:lnSpc>
            </a:pP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Data related:</a:t>
            </a:r>
            <a:endParaRPr b="0" lang="en-US" sz="1600" strike="noStrike" u="none">
              <a:solidFill>
                <a:srgbClr val="000000"/>
              </a:solidFill>
              <a:effectLst/>
              <a:uFillTx/>
              <a:latin typeface="Arial"/>
            </a:endParaRPr>
          </a:p>
          <a:p>
            <a:pPr algn="just">
              <a:lnSpc>
                <a:spcPct val="100000"/>
              </a:lnSpc>
            </a:pP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High-Density "Virtual Tide Gauge" Networks: We can use this data to QC and extend the INCOIS Tide Guage data. </a:t>
            </a:r>
            <a:endParaRPr b="0" lang="en-US" sz="1600" strike="noStrike" u="none">
              <a:solidFill>
                <a:srgbClr val="000000"/>
              </a:solidFill>
              <a:effectLst/>
              <a:uFillTx/>
              <a:latin typeface="Arial"/>
            </a:endParaRPr>
          </a:p>
          <a:p>
            <a:pPr algn="just">
              <a:lnSpc>
                <a:spcPct val="100000"/>
              </a:lnSpc>
            </a:pP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Assimilation into Coastal Ocean State Forecasting: Instead of regular AVISO L2P products, We can assimliate XTRACK data to see how sea level and currents get improved near the coast. Its a great project data assimilation people.</a:t>
            </a:r>
            <a:endParaRPr b="0" lang="en-US" sz="1600" strike="noStrike" u="none">
              <a:solidFill>
                <a:srgbClr val="000000"/>
              </a:solidFill>
              <a:effectLst/>
              <a:uFillTx/>
              <a:latin typeface="Arial"/>
            </a:endParaRPr>
          </a:p>
          <a:p>
            <a:pPr algn="just">
              <a:lnSpc>
                <a:spcPct val="100000"/>
              </a:lnSpc>
            </a:pP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Quantifying Storm Surge height statistics using long XTRACK data.</a:t>
            </a:r>
            <a:endParaRPr b="0" lang="en-US" sz="1600" strike="noStrike" u="none">
              <a:solidFill>
                <a:srgbClr val="000000"/>
              </a:solidFill>
              <a:effectLst/>
              <a:uFillTx/>
              <a:latin typeface="Arial"/>
            </a:endParaRPr>
          </a:p>
          <a:p>
            <a:pPr algn="just">
              <a:lnSpc>
                <a:spcPct val="100000"/>
              </a:lnSpc>
            </a:pP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Research Related:</a:t>
            </a:r>
            <a:endParaRPr b="0" lang="en-US" sz="1600" strike="noStrike" u="none">
              <a:solidFill>
                <a:srgbClr val="000000"/>
              </a:solidFill>
              <a:effectLst/>
              <a:uFillTx/>
              <a:latin typeface="Arial"/>
            </a:endParaRPr>
          </a:p>
          <a:p>
            <a:pPr algn="just">
              <a:lnSpc>
                <a:spcPct val="100000"/>
              </a:lnSpc>
            </a:pP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Is EICC widening?</a:t>
            </a: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Trends of efolding width of the EICC?</a:t>
            </a:r>
            <a:endParaRPr b="0" lang="en-US" sz="1600" strike="noStrike" u="none">
              <a:solidFill>
                <a:srgbClr val="000000"/>
              </a:solidFill>
              <a:effectLst/>
              <a:uFillTx/>
              <a:latin typeface="Arial"/>
            </a:endParaRPr>
          </a:p>
          <a:p>
            <a:pPr algn="just">
              <a:lnSpc>
                <a:spcPct val="100000"/>
              </a:lnSpc>
            </a:pP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
          <p:cNvSpPr/>
          <p:nvPr/>
        </p:nvSpPr>
        <p:spPr>
          <a:xfrm>
            <a:off x="457200" y="685800"/>
            <a:ext cx="8483400" cy="6182640"/>
          </a:xfrm>
          <a:prstGeom prst="rect">
            <a:avLst/>
          </a:prstGeom>
          <a:noFill/>
          <a:ln w="0">
            <a:noFill/>
          </a:ln>
        </p:spPr>
        <p:style>
          <a:lnRef idx="0"/>
          <a:fillRef idx="0"/>
          <a:effectRef idx="0"/>
          <a:fontRef idx="minor"/>
        </p:style>
        <p:txBody>
          <a:bodyPr wrap="none" lIns="90000" rIns="90000" tIns="45000" bIns="45000" anchor="t">
            <a:spAutoFit/>
          </a:bodyPr>
          <a:p>
            <a:pPr algn="just">
              <a:lnSpc>
                <a:spcPct val="100000"/>
              </a:lnSpc>
            </a:pPr>
            <a:r>
              <a:rPr b="0" lang="en-US" sz="1600" strike="noStrike" u="none">
                <a:solidFill>
                  <a:srgbClr val="00a933"/>
                </a:solidFill>
                <a:effectLst/>
                <a:uFillTx/>
                <a:latin typeface="Arial"/>
              </a:rPr>
              <a:t>What I wanted to do:</a:t>
            </a:r>
            <a:endParaRPr b="0" lang="en-US" sz="1600" strike="noStrike" u="none">
              <a:solidFill>
                <a:srgbClr val="000000"/>
              </a:solidFill>
              <a:effectLst/>
              <a:uFillTx/>
              <a:latin typeface="Arial"/>
            </a:endParaRPr>
          </a:p>
          <a:p>
            <a:pPr algn="just">
              <a:lnSpc>
                <a:spcPct val="100000"/>
              </a:lnSpc>
            </a:pPr>
            <a:endParaRPr b="0" lang="en-US" sz="1600" strike="noStrike" u="none">
              <a:solidFill>
                <a:srgbClr val="000000"/>
              </a:solidFill>
              <a:effectLst/>
              <a:uFillTx/>
              <a:latin typeface="Arial"/>
            </a:endParaRPr>
          </a:p>
          <a:p>
            <a:pPr algn="just">
              <a:lnSpc>
                <a:spcPct val="100000"/>
              </a:lnSpc>
            </a:pPr>
            <a:r>
              <a:rPr b="0" lang="en-US" sz="1600" strike="noStrike" u="none">
                <a:solidFill>
                  <a:srgbClr val="00a933"/>
                </a:solidFill>
                <a:effectLst/>
                <a:uFillTx/>
                <a:latin typeface="Arial"/>
              </a:rPr>
              <a:t>Data related:</a:t>
            </a:r>
            <a:endParaRPr b="0" lang="en-US" sz="1600" strike="noStrike" u="none">
              <a:solidFill>
                <a:srgbClr val="000000"/>
              </a:solidFill>
              <a:effectLst/>
              <a:uFillTx/>
              <a:latin typeface="Arial"/>
            </a:endParaRPr>
          </a:p>
          <a:p>
            <a:pPr algn="just">
              <a:lnSpc>
                <a:spcPct val="100000"/>
              </a:lnSpc>
            </a:pP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Creating a high resolution 1/12 degree gridded SLA (and thus u, v) product </a:t>
            </a: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close to the east and west coast of India. It takes AVISO monthly gridded 0.25 as the basis, </a:t>
            </a: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improve it near the coast with XTRACK data using statistical/AI/ML methods</a:t>
            </a:r>
            <a:endParaRPr b="0" lang="en-US" sz="1600" strike="noStrike" u="none">
              <a:solidFill>
                <a:srgbClr val="000000"/>
              </a:solidFill>
              <a:effectLst/>
              <a:uFillTx/>
              <a:latin typeface="Arial"/>
            </a:endParaRPr>
          </a:p>
          <a:p>
            <a:pPr algn="just">
              <a:lnSpc>
                <a:spcPct val="100000"/>
              </a:lnSpc>
            </a:pP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Start with simple Optimal Interpolation method.</a:t>
            </a:r>
            <a:endParaRPr b="0" lang="en-US" sz="1600" strike="noStrike" u="none">
              <a:solidFill>
                <a:srgbClr val="000000"/>
              </a:solidFill>
              <a:effectLst/>
              <a:uFillTx/>
              <a:latin typeface="Arial"/>
            </a:endParaRPr>
          </a:p>
          <a:p>
            <a:pPr algn="just">
              <a:lnSpc>
                <a:spcPct val="100000"/>
              </a:lnSpc>
            </a:pP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Transitioning to more robust AI/ML methods.</a:t>
            </a:r>
            <a:endParaRPr b="0" lang="en-US" sz="1600" strike="noStrike" u="none">
              <a:solidFill>
                <a:srgbClr val="000000"/>
              </a:solidFill>
              <a:effectLst/>
              <a:uFillTx/>
              <a:latin typeface="Arial"/>
            </a:endParaRPr>
          </a:p>
          <a:p>
            <a:pPr algn="just">
              <a:lnSpc>
                <a:spcPct val="100000"/>
              </a:lnSpc>
            </a:pP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Physics-Informed Neural Networks (PINNs): </a:t>
            </a: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With a custom loss function that penalizes deviations from geostrophic balance.</a:t>
            </a: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I will make a draft detailing all the statistical/AI/ML techniques that can used for this purpose.</a:t>
            </a: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 </a:t>
            </a: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Research related:</a:t>
            </a:r>
            <a:endParaRPr b="0" lang="en-US" sz="1600" strike="noStrike" u="none">
              <a:solidFill>
                <a:srgbClr val="000000"/>
              </a:solidFill>
              <a:effectLst/>
              <a:uFillTx/>
              <a:latin typeface="Arial"/>
            </a:endParaRPr>
          </a:p>
          <a:p>
            <a:pPr algn="just">
              <a:lnSpc>
                <a:spcPct val="100000"/>
              </a:lnSpc>
            </a:pP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Thoroughly quantify the speed deceleration in terms of forcing mechanisms.</a:t>
            </a: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1. Rough estimation of transport using windstress curl, how efolding width of EICC changing,</a:t>
            </a: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And rough depth of EICC, we deduce the speed change.</a:t>
            </a: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2. Multilinear correlation of driving forces (lead-lag corrected) and identify the domninant </a:t>
            </a:r>
            <a:endParaRPr b="0" lang="en-US" sz="1600" strike="noStrike" u="none">
              <a:solidFill>
                <a:srgbClr val="000000"/>
              </a:solidFill>
              <a:effectLst/>
              <a:uFillTx/>
              <a:latin typeface="Arial"/>
            </a:endParaRPr>
          </a:p>
          <a:p>
            <a:pPr algn="just">
              <a:lnSpc>
                <a:spcPct val="100000"/>
              </a:lnSpc>
            </a:pPr>
            <a:r>
              <a:rPr b="0" lang="en-US" sz="1600" strike="noStrike" u="none">
                <a:solidFill>
                  <a:srgbClr val="000000"/>
                </a:solidFill>
                <a:effectLst/>
                <a:uFillTx/>
                <a:latin typeface="Arial"/>
              </a:rPr>
              <a:t>Forcing for this deceleration. </a:t>
            </a:r>
            <a:endParaRPr b="0" lang="en-US" sz="1600" strike="noStrike" u="none">
              <a:solidFill>
                <a:srgbClr val="000000"/>
              </a:solidFill>
              <a:effectLst/>
              <a:uFillTx/>
              <a:latin typeface="Arial"/>
            </a:endParaRPr>
          </a:p>
          <a:p>
            <a:pPr algn="just">
              <a:lnSpc>
                <a:spcPct val="100000"/>
              </a:lnSpc>
            </a:pPr>
            <a:endParaRPr b="0" lang="en-US" sz="1600" strike="noStrike" u="none">
              <a:solidFill>
                <a:srgbClr val="000000"/>
              </a:solidFill>
              <a:effectLst/>
              <a:uFillTx/>
              <a:latin typeface="Arial"/>
            </a:endParaRPr>
          </a:p>
          <a:p>
            <a:pPr algn="just">
              <a:lnSpc>
                <a:spcPct val="100000"/>
              </a:lnSpc>
            </a:pP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
          <p:cNvSpPr/>
          <p:nvPr/>
        </p:nvSpPr>
        <p:spPr>
          <a:xfrm>
            <a:off x="489600" y="703440"/>
            <a:ext cx="7586640" cy="1157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i="1" lang="en-IN" sz="1400" strike="noStrike" u="none">
                <a:solidFill>
                  <a:srgbClr val="000000"/>
                </a:solidFill>
                <a:effectLst/>
                <a:uFillTx/>
                <a:latin typeface="Arial"/>
                <a:ea typeface="DejaVu Sans"/>
              </a:rPr>
              <a:t>Along track data has to be smoothed properly before computing geostrophic currents. Otherwise, it will give huge gradients due to noise and hence huge and unreliable currents.</a:t>
            </a:r>
            <a:endParaRPr b="0" lang="en-US" sz="1400" strike="noStrike" u="none">
              <a:solidFill>
                <a:srgbClr val="000000"/>
              </a:solidFill>
              <a:effectLst/>
              <a:uFillTx/>
              <a:latin typeface="Arial"/>
            </a:endParaRPr>
          </a:p>
          <a:p>
            <a:pPr>
              <a:lnSpc>
                <a:spcPct val="100000"/>
              </a:lnSpc>
            </a:pPr>
            <a:endParaRPr b="0" lang="en-US" sz="1400" strike="noStrike" u="none">
              <a:solidFill>
                <a:srgbClr val="000000"/>
              </a:solidFill>
              <a:effectLst/>
              <a:uFillTx/>
              <a:latin typeface="Arial"/>
            </a:endParaRPr>
          </a:p>
          <a:p>
            <a:pPr>
              <a:lnSpc>
                <a:spcPct val="100000"/>
              </a:lnSpc>
            </a:pPr>
            <a:r>
              <a:rPr b="0" i="1" lang="en-IN" sz="1400" strike="noStrike" u="none">
                <a:solidFill>
                  <a:srgbClr val="000000"/>
                </a:solidFill>
                <a:effectLst/>
                <a:uFillTx/>
                <a:latin typeface="Arial"/>
                <a:ea typeface="DejaVu Sans"/>
              </a:rPr>
              <a:t>Powel and Leben (2004) proposed a filter to minimize white noise.</a:t>
            </a:r>
            <a:endParaRPr b="0" lang="en-US" sz="1400" strike="noStrike" u="none">
              <a:solidFill>
                <a:srgbClr val="000000"/>
              </a:solidFill>
              <a:effectLst/>
              <a:uFillTx/>
              <a:latin typeface="Arial"/>
            </a:endParaRPr>
          </a:p>
          <a:p>
            <a:pPr>
              <a:lnSpc>
                <a:spcPct val="100000"/>
              </a:lnSpc>
            </a:pPr>
            <a:endParaRPr b="0" lang="en-US" sz="1400" strike="noStrike" u="none">
              <a:solidFill>
                <a:srgbClr val="000000"/>
              </a:solidFill>
              <a:effectLst/>
              <a:uFillTx/>
              <a:latin typeface="Arial"/>
            </a:endParaRPr>
          </a:p>
        </p:txBody>
      </p:sp>
      <p:pic>
        <p:nvPicPr>
          <p:cNvPr id="153" name="" descr=""/>
          <p:cNvPicPr/>
          <p:nvPr/>
        </p:nvPicPr>
        <p:blipFill>
          <a:blip r:embed="rId1"/>
          <a:stretch/>
        </p:blipFill>
        <p:spPr>
          <a:xfrm>
            <a:off x="436320" y="2891880"/>
            <a:ext cx="4363200" cy="3719880"/>
          </a:xfrm>
          <a:prstGeom prst="rect">
            <a:avLst/>
          </a:prstGeom>
          <a:noFill/>
          <a:ln w="0">
            <a:noFill/>
          </a:ln>
        </p:spPr>
      </p:pic>
      <p:sp>
        <p:nvSpPr>
          <p:cNvPr id="154" name=""/>
          <p:cNvSpPr/>
          <p:nvPr/>
        </p:nvSpPr>
        <p:spPr>
          <a:xfrm>
            <a:off x="457200" y="2013120"/>
            <a:ext cx="5572080" cy="3038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400" strike="noStrike" u="none">
                <a:solidFill>
                  <a:srgbClr val="000000"/>
                </a:solidFill>
                <a:effectLst/>
                <a:uFillTx/>
                <a:latin typeface="Arial"/>
                <a:ea typeface="DejaVu Sans"/>
              </a:rPr>
              <a:t>Results of using several smoothing techniques described in the draft</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5" name="" descr=""/>
          <p:cNvPicPr/>
          <p:nvPr/>
        </p:nvPicPr>
        <p:blipFill>
          <a:blip r:embed="rId1"/>
          <a:stretch/>
        </p:blipFill>
        <p:spPr>
          <a:xfrm>
            <a:off x="0" y="457200"/>
            <a:ext cx="7201800" cy="4689720"/>
          </a:xfrm>
          <a:prstGeom prst="rect">
            <a:avLst/>
          </a:prstGeom>
          <a:noFill/>
          <a:ln w="0">
            <a:noFill/>
          </a:ln>
        </p:spPr>
      </p:pic>
      <p:sp>
        <p:nvSpPr>
          <p:cNvPr id="156" name=""/>
          <p:cNvSpPr/>
          <p:nvPr/>
        </p:nvSpPr>
        <p:spPr>
          <a:xfrm>
            <a:off x="261000" y="5224320"/>
            <a:ext cx="6892200" cy="405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trike="noStrike" u="none">
                <a:solidFill>
                  <a:srgbClr val="000000"/>
                </a:solidFill>
                <a:effectLst/>
                <a:uFillTx/>
                <a:latin typeface="Arial"/>
                <a:ea typeface="DejaVu Sans"/>
              </a:rPr>
              <a:t>Coastal Altimeter products are available for these regions (Birol et al. 2021)</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
          <p:cNvSpPr/>
          <p:nvPr/>
        </p:nvSpPr>
        <p:spPr>
          <a:xfrm>
            <a:off x="102600" y="914400"/>
            <a:ext cx="8812800" cy="2237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trike="noStrike" u="none">
                <a:solidFill>
                  <a:srgbClr val="000000"/>
                </a:solidFill>
                <a:effectLst/>
                <a:uFillTx/>
                <a:latin typeface="Times New Roman"/>
                <a:ea typeface="DejaVu Sans"/>
              </a:rPr>
              <a:t>So, How do coastal altimetry algorithms like X-TRACK (Roblou et al. 2007) to tackle these problems?</a:t>
            </a:r>
            <a:endParaRPr b="0" lang="en-US" sz="18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Times New Roman"/>
                <a:ea typeface="DejaVu Sans"/>
              </a:rPr>
              <a:t>1. Using state of the art high resolution regional models to better filter out tides and meteorologically induced signals.</a:t>
            </a:r>
            <a:endParaRPr b="0" lang="en-US"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Times New Roman"/>
                <a:ea typeface="DejaVu Sans"/>
              </a:rPr>
              <a:t>2. Employing new waveform models for retracking of coastal waveforms (ALES, i.e., </a:t>
            </a:r>
            <a:endParaRPr b="0" lang="en-US"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Times New Roman"/>
                <a:ea typeface="DejaVu Sans"/>
              </a:rPr>
              <a:t>Advanced Leading Edge Subwaveform retracker).</a:t>
            </a:r>
            <a:endParaRPr b="0" lang="en-US"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Times New Roman"/>
                <a:ea typeface="DejaVu Sans"/>
              </a:rPr>
              <a:t>3. Screen multiple along track altimeter data together. </a:t>
            </a:r>
            <a:endParaRPr b="0" lang="en-US"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Times New Roman"/>
                <a:ea typeface="DejaVu Sans"/>
              </a:rPr>
              <a:t>4. Sophisticated vertical reference frame with updated MSS.</a:t>
            </a:r>
            <a:endParaRPr b="0" lang="en-US" sz="1800" strike="noStrike" u="none">
              <a:solidFill>
                <a:srgbClr val="000000"/>
              </a:solidFill>
              <a:effectLst/>
              <a:uFillTx/>
              <a:latin typeface="Arial"/>
            </a:endParaRPr>
          </a:p>
        </p:txBody>
      </p:sp>
      <p:sp>
        <p:nvSpPr>
          <p:cNvPr id="158" name=""/>
          <p:cNvSpPr/>
          <p:nvPr/>
        </p:nvSpPr>
        <p:spPr>
          <a:xfrm>
            <a:off x="504000" y="3904560"/>
            <a:ext cx="9204120" cy="595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trike="noStrike" u="none">
                <a:solidFill>
                  <a:srgbClr val="000000"/>
                </a:solidFill>
                <a:effectLst/>
                <a:uFillTx/>
                <a:latin typeface="Arial"/>
                <a:ea typeface="DejaVu Sans"/>
              </a:rPr>
              <a:t>Most of the earlier studies focused on open ocean currents derived from gridded altimeter</a:t>
            </a:r>
            <a:endParaRPr b="0" lang="en-US"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Arial"/>
                <a:ea typeface="DejaVu Sans"/>
              </a:rPr>
              <a:t>Data from AVISO. Very few studies focused on coastal current systems. </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
          <p:cNvSpPr/>
          <p:nvPr/>
        </p:nvSpPr>
        <p:spPr>
          <a:xfrm>
            <a:off x="180000" y="360000"/>
            <a:ext cx="5933160" cy="503316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pPr>
            <a:r>
              <a:rPr b="0" lang="en-IN" sz="1400" strike="noStrike" u="none">
                <a:solidFill>
                  <a:srgbClr val="000000"/>
                </a:solidFill>
                <a:effectLst/>
                <a:uFillTx/>
                <a:latin typeface="Times New Roman"/>
                <a:ea typeface="DejaVu Sans"/>
              </a:rPr>
              <a:t>Problems with alimetry in coastal regions:</a:t>
            </a:r>
            <a:endParaRPr b="0" lang="en-US" sz="1400" strike="noStrike" u="none">
              <a:solidFill>
                <a:srgbClr val="000000"/>
              </a:solidFill>
              <a:effectLst/>
              <a:uFillTx/>
              <a:latin typeface="Arial"/>
            </a:endParaRPr>
          </a:p>
          <a:p>
            <a:pPr algn="just">
              <a:lnSpc>
                <a:spcPct val="100000"/>
              </a:lnSpc>
            </a:pPr>
            <a:endParaRPr b="0" lang="en-US" sz="1400" strike="noStrike" u="none">
              <a:solidFill>
                <a:srgbClr val="000000"/>
              </a:solidFill>
              <a:effectLst/>
              <a:uFillTx/>
              <a:latin typeface="Arial"/>
            </a:endParaRPr>
          </a:p>
          <a:p>
            <a:pPr algn="just">
              <a:lnSpc>
                <a:spcPct val="100000"/>
              </a:lnSpc>
            </a:pPr>
            <a:r>
              <a:rPr b="0" lang="en-IN" sz="1400" strike="noStrike" u="none">
                <a:solidFill>
                  <a:srgbClr val="000000"/>
                </a:solidFill>
                <a:effectLst/>
                <a:uFillTx/>
                <a:latin typeface="Times New Roman"/>
                <a:ea typeface="DejaVu Sans"/>
              </a:rPr>
              <a:t>1. Signals are contaminated by land and inland water reflections, thus effecting the shape of the waveform.</a:t>
            </a:r>
            <a:endParaRPr b="0" lang="en-US" sz="1400" strike="noStrike" u="none">
              <a:solidFill>
                <a:srgbClr val="000000"/>
              </a:solidFill>
              <a:effectLst/>
              <a:uFillTx/>
              <a:latin typeface="Arial"/>
            </a:endParaRPr>
          </a:p>
          <a:p>
            <a:pPr algn="just">
              <a:lnSpc>
                <a:spcPct val="100000"/>
              </a:lnSpc>
            </a:pPr>
            <a:r>
              <a:rPr b="0" lang="en-IN" sz="1400" strike="noStrike" u="none">
                <a:solidFill>
                  <a:srgbClr val="000000"/>
                </a:solidFill>
                <a:effectLst/>
                <a:uFillTx/>
                <a:latin typeface="Times New Roman"/>
                <a:ea typeface="DejaVu Sans"/>
              </a:rPr>
              <a:t>2. Temporal and spatial sampling of current altimetry not enough to capture coastal variability (Chelton 2001). Also, Many assumption of altimetry data processing are valid for only open ocean.</a:t>
            </a:r>
            <a:endParaRPr b="0" lang="en-US" sz="1400" strike="noStrike" u="none">
              <a:solidFill>
                <a:srgbClr val="000000"/>
              </a:solidFill>
              <a:effectLst/>
              <a:uFillTx/>
              <a:latin typeface="Arial"/>
            </a:endParaRPr>
          </a:p>
          <a:p>
            <a:pPr algn="just">
              <a:lnSpc>
                <a:spcPct val="100000"/>
              </a:lnSpc>
            </a:pPr>
            <a:r>
              <a:rPr b="0" lang="en-IN" sz="1400" strike="noStrike" u="none">
                <a:solidFill>
                  <a:srgbClr val="000000"/>
                </a:solidFill>
                <a:effectLst/>
                <a:uFillTx/>
                <a:latin typeface="Times New Roman"/>
                <a:ea typeface="DejaVu Sans"/>
              </a:rPr>
              <a:t>3. Inaccurate tidal representation by global tidal models near to coastal and shelf regions.</a:t>
            </a:r>
            <a:endParaRPr b="0" lang="en-US" sz="1400" strike="noStrike" u="none">
              <a:solidFill>
                <a:srgbClr val="000000"/>
              </a:solidFill>
              <a:effectLst/>
              <a:uFillTx/>
              <a:latin typeface="Arial"/>
            </a:endParaRPr>
          </a:p>
          <a:p>
            <a:pPr algn="just">
              <a:lnSpc>
                <a:spcPct val="100000"/>
              </a:lnSpc>
            </a:pPr>
            <a:r>
              <a:rPr b="0" lang="en-IN" sz="1400" strike="noStrike" u="none">
                <a:solidFill>
                  <a:srgbClr val="000000"/>
                </a:solidFill>
                <a:effectLst/>
                <a:uFillTx/>
                <a:latin typeface="Times New Roman"/>
                <a:ea typeface="DejaVu Sans"/>
              </a:rPr>
              <a:t>4. Ocean response to atmospheric forcing(like inverse barometric affects) is not adequetly modelled in global coarse region models.</a:t>
            </a:r>
            <a:endParaRPr b="0" lang="en-US" sz="1400" strike="noStrike" u="none">
              <a:solidFill>
                <a:srgbClr val="000000"/>
              </a:solidFill>
              <a:effectLst/>
              <a:uFillTx/>
              <a:latin typeface="Arial"/>
            </a:endParaRPr>
          </a:p>
          <a:p>
            <a:pPr algn="just">
              <a:lnSpc>
                <a:spcPct val="100000"/>
              </a:lnSpc>
            </a:pPr>
            <a:r>
              <a:rPr b="0" lang="en-IN" sz="1400" strike="noStrike" u="none">
                <a:solidFill>
                  <a:srgbClr val="000000"/>
                </a:solidFill>
                <a:effectLst/>
                <a:uFillTx/>
                <a:latin typeface="Times New Roman"/>
                <a:ea typeface="DejaVu Sans"/>
              </a:rPr>
              <a:t>5. Reference Mean Sea Surface (MSS) is not accurate in the coastal regions because of the lack of sufficient data.</a:t>
            </a:r>
            <a:endParaRPr b="0" lang="en-US" sz="1400" strike="noStrike" u="none">
              <a:solidFill>
                <a:srgbClr val="000000"/>
              </a:solidFill>
              <a:effectLst/>
              <a:uFillTx/>
              <a:latin typeface="Arial"/>
            </a:endParaRPr>
          </a:p>
          <a:p>
            <a:pPr algn="just">
              <a:lnSpc>
                <a:spcPct val="100000"/>
              </a:lnSpc>
            </a:pPr>
            <a:r>
              <a:rPr b="0" lang="en-IN" sz="1400" strike="noStrike" u="none">
                <a:solidFill>
                  <a:srgbClr val="000000"/>
                </a:solidFill>
                <a:effectLst/>
                <a:uFillTx/>
                <a:latin typeface="Times New Roman"/>
                <a:ea typeface="DejaVu Sans"/>
              </a:rPr>
              <a:t>6. The gridding procedure smooths out coastal variability.</a:t>
            </a:r>
            <a:endParaRPr b="0" lang="en-US" sz="1400" strike="noStrike" u="none">
              <a:solidFill>
                <a:srgbClr val="000000"/>
              </a:solidFill>
              <a:effectLst/>
              <a:uFillTx/>
              <a:latin typeface="Arial"/>
            </a:endParaRPr>
          </a:p>
          <a:p>
            <a:pPr algn="just">
              <a:lnSpc>
                <a:spcPct val="100000"/>
              </a:lnSpc>
            </a:pPr>
            <a:endParaRPr b="0" lang="en-US" sz="1400" strike="noStrike" u="none">
              <a:solidFill>
                <a:srgbClr val="000000"/>
              </a:solidFill>
              <a:effectLst/>
              <a:uFillTx/>
              <a:latin typeface="Arial"/>
            </a:endParaRPr>
          </a:p>
          <a:p>
            <a:pPr algn="just">
              <a:lnSpc>
                <a:spcPct val="100000"/>
              </a:lnSpc>
            </a:pPr>
            <a:r>
              <a:rPr b="0" lang="en-IN" sz="1400" strike="noStrike" u="none">
                <a:solidFill>
                  <a:srgbClr val="000000"/>
                </a:solidFill>
                <a:effectLst/>
                <a:uFillTx/>
                <a:latin typeface="Times New Roman"/>
                <a:ea typeface="DejaVu Sans"/>
              </a:rPr>
              <a:t>Because of all these limitations, the data near coast is mostly rejected by altimeter processing algorithms.</a:t>
            </a:r>
            <a:endParaRPr b="0" lang="en-US" sz="1400" strike="noStrike" u="none">
              <a:solidFill>
                <a:srgbClr val="000000"/>
              </a:solidFill>
              <a:effectLst/>
              <a:uFillTx/>
              <a:latin typeface="Arial"/>
            </a:endParaRPr>
          </a:p>
        </p:txBody>
      </p:sp>
      <p:pic>
        <p:nvPicPr>
          <p:cNvPr id="160" name="" descr=""/>
          <p:cNvPicPr/>
          <p:nvPr/>
        </p:nvPicPr>
        <p:blipFill>
          <a:blip r:embed="rId1"/>
          <a:srcRect l="0" t="0" r="10148" b="0"/>
          <a:stretch/>
        </p:blipFill>
        <p:spPr>
          <a:xfrm>
            <a:off x="457200" y="5082480"/>
            <a:ext cx="3809520" cy="631080"/>
          </a:xfrm>
          <a:prstGeom prst="rect">
            <a:avLst/>
          </a:prstGeom>
          <a:noFill/>
          <a:ln w="0">
            <a:noFill/>
          </a:ln>
        </p:spPr>
      </p:pic>
      <p:sp>
        <p:nvSpPr>
          <p:cNvPr id="161" name=""/>
          <p:cNvSpPr/>
          <p:nvPr/>
        </p:nvSpPr>
        <p:spPr>
          <a:xfrm>
            <a:off x="5257800" y="4343400"/>
            <a:ext cx="3052800" cy="2245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trike="noStrike" u="none">
                <a:solidFill>
                  <a:srgbClr val="000000"/>
                </a:solidFill>
                <a:effectLst/>
                <a:uFillTx/>
                <a:latin typeface="Times New Roman"/>
                <a:ea typeface="DejaVu Sans"/>
              </a:rPr>
              <a:t>WTC - Wet Trophosperic Correction</a:t>
            </a:r>
            <a:endParaRPr b="0" lang="en-US"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Times New Roman"/>
                <a:ea typeface="DejaVu Sans"/>
              </a:rPr>
              <a:t>DTC - Dry Trophosperic Corretion</a:t>
            </a:r>
            <a:endParaRPr b="0" lang="en-US"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Times New Roman"/>
                <a:ea typeface="DejaVu Sans"/>
              </a:rPr>
              <a:t>Ion - Ionspheric path delay</a:t>
            </a:r>
            <a:endParaRPr b="0" lang="en-US"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Times New Roman"/>
                <a:ea typeface="DejaVu Sans"/>
              </a:rPr>
              <a:t>DAC - Dynamic Atmopheric Correction</a:t>
            </a:r>
            <a:endParaRPr b="0" lang="en-US"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Times New Roman"/>
                <a:ea typeface="DejaVu Sans"/>
              </a:rPr>
              <a:t>SSB - Sea State Bias</a:t>
            </a:r>
            <a:endParaRPr b="0" lang="en-US"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Times New Roman"/>
                <a:ea typeface="DejaVu Sans"/>
              </a:rPr>
              <a:t>MSS - Mean Sea Surface</a:t>
            </a:r>
            <a:endParaRPr b="0" lang="en-US" sz="1400" strike="noStrike" u="none">
              <a:solidFill>
                <a:srgbClr val="000000"/>
              </a:solidFill>
              <a:effectLst/>
              <a:uFillTx/>
              <a:latin typeface="Arial"/>
            </a:endParaRPr>
          </a:p>
          <a:p>
            <a:pPr>
              <a:lnSpc>
                <a:spcPct val="100000"/>
              </a:lnSpc>
            </a:pPr>
            <a:endParaRPr b="0" lang="en-US"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Times New Roman"/>
                <a:ea typeface="DejaVu Sans"/>
              </a:rPr>
              <a:t>MSS = GEOID + MDT</a:t>
            </a:r>
            <a:endParaRPr b="0" lang="en-US"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Times New Roman"/>
                <a:ea typeface="DejaVu Sans"/>
              </a:rPr>
              <a:t>MDT = Mean Dynamic Topography</a:t>
            </a:r>
            <a:endParaRPr b="0" lang="en-US" sz="1400" strike="noStrike" u="none">
              <a:solidFill>
                <a:srgbClr val="000000"/>
              </a:solidFill>
              <a:effectLst/>
              <a:uFillTx/>
              <a:latin typeface="Arial"/>
            </a:endParaRPr>
          </a:p>
          <a:p>
            <a:pPr>
              <a:lnSpc>
                <a:spcPct val="100000"/>
              </a:lnSpc>
            </a:pPr>
            <a:endParaRPr b="0" lang="en-US"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Times New Roman"/>
                <a:ea typeface="DejaVu Sans"/>
              </a:rPr>
              <a:t>(Quartly et al. 2017)</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p:nvPr/>
        </p:nvSpPr>
        <p:spPr>
          <a:xfrm>
            <a:off x="218520" y="228600"/>
            <a:ext cx="9152640" cy="5358960"/>
          </a:xfrm>
          <a:prstGeom prst="rect">
            <a:avLst/>
          </a:prstGeom>
          <a:noFill/>
          <a:ln w="0">
            <a:noFill/>
          </a:ln>
        </p:spPr>
        <p:style>
          <a:lnRef idx="0"/>
          <a:fillRef idx="0"/>
          <a:effectRef idx="0"/>
          <a:fontRef idx="minor"/>
        </p:style>
        <p:txBody>
          <a:bodyPr lIns="0" rIns="0" tIns="0" bIns="0" anchor="ctr">
            <a:noAutofit/>
          </a:bodyPr>
          <a:p>
            <a:pPr algn="ctr">
              <a:lnSpc>
                <a:spcPct val="100000"/>
              </a:lnSpc>
              <a:spcBef>
                <a:spcPts val="1191"/>
              </a:spcBef>
              <a:spcAft>
                <a:spcPts val="992"/>
              </a:spcAft>
            </a:pPr>
            <a:r>
              <a:rPr b="1" lang="en-US" sz="1100" strike="noStrike" u="none">
                <a:solidFill>
                  <a:srgbClr val="55308d"/>
                </a:solidFill>
                <a:effectLst/>
                <a:uFillTx/>
                <a:latin typeface="Arial"/>
              </a:rPr>
              <a:t> Glimpse of Coastal Altimetry</a:t>
            </a:r>
            <a:endParaRPr b="0" lang="en-US" sz="1100" strike="noStrike" u="none">
              <a:solidFill>
                <a:srgbClr val="000000"/>
              </a:solidFill>
              <a:effectLst/>
              <a:uFillTx/>
              <a:latin typeface="Arial"/>
            </a:endParaRPr>
          </a:p>
          <a:p>
            <a:pPr>
              <a:lnSpc>
                <a:spcPct val="100000"/>
              </a:lnSpc>
              <a:spcBef>
                <a:spcPts val="1191"/>
              </a:spcBef>
              <a:spcAft>
                <a:spcPts val="992"/>
              </a:spcAft>
            </a:pPr>
            <a:r>
              <a:rPr b="0" lang="en-US" sz="1100" strike="noStrike" u="none">
                <a:solidFill>
                  <a:srgbClr val="000000"/>
                </a:solidFill>
                <a:effectLst/>
                <a:uFillTx/>
                <a:latin typeface="Arial"/>
              </a:rPr>
              <a:t>Coastal altimetry represents a significant leap forward from conventional open-ocean satellite altimetry. </a:t>
            </a:r>
            <a:endParaRPr b="0" lang="en-US" sz="1100" strike="noStrike" u="none">
              <a:solidFill>
                <a:srgbClr val="000000"/>
              </a:solidFill>
              <a:effectLst/>
              <a:uFillTx/>
              <a:latin typeface="Arial"/>
            </a:endParaRPr>
          </a:p>
          <a:p>
            <a:pPr>
              <a:lnSpc>
                <a:spcPct val="100000"/>
              </a:lnSpc>
              <a:spcBef>
                <a:spcPts val="1191"/>
              </a:spcBef>
              <a:spcAft>
                <a:spcPts val="992"/>
              </a:spcAft>
            </a:pPr>
            <a:r>
              <a:rPr b="0" lang="en-US" sz="1100" strike="noStrike" u="none">
                <a:solidFill>
                  <a:srgbClr val="000000"/>
                </a:solidFill>
                <a:effectLst/>
                <a:uFillTx/>
                <a:latin typeface="Arial"/>
              </a:rPr>
              <a:t>Traditional altimetry data is often flagged and discarded within 50 km of the coast due to land contamination in the radar footprint and complex, rapidly changing coastal dynamics that degrade the signal quality. </a:t>
            </a:r>
            <a:endParaRPr b="0" lang="en-US" sz="1100" strike="noStrike" u="none">
              <a:solidFill>
                <a:srgbClr val="000000"/>
              </a:solidFill>
              <a:effectLst/>
              <a:uFillTx/>
              <a:latin typeface="Arial"/>
            </a:endParaRPr>
          </a:p>
          <a:p>
            <a:pPr>
              <a:lnSpc>
                <a:spcPct val="100000"/>
              </a:lnSpc>
              <a:spcBef>
                <a:spcPts val="1191"/>
              </a:spcBef>
              <a:spcAft>
                <a:spcPts val="992"/>
              </a:spcAft>
            </a:pPr>
            <a:r>
              <a:rPr b="0" lang="en-US" sz="1100" strike="noStrike" u="none">
                <a:solidFill>
                  <a:srgbClr val="000000"/>
                </a:solidFill>
                <a:effectLst/>
                <a:uFillTx/>
                <a:latin typeface="Arial"/>
              </a:rPr>
              <a:t>Coastal altimetry utilizes specialized processing techniques to recover valuable sea level information right up to the coastline, overcoming these limitations.</a:t>
            </a:r>
            <a:endParaRPr b="0" lang="en-US" sz="1100" strike="noStrike" u="none">
              <a:solidFill>
                <a:srgbClr val="000000"/>
              </a:solidFill>
              <a:effectLst/>
              <a:uFillTx/>
              <a:latin typeface="Arial"/>
            </a:endParaRPr>
          </a:p>
          <a:p>
            <a:pPr>
              <a:lnSpc>
                <a:spcPct val="100000"/>
              </a:lnSpc>
            </a:pPr>
            <a:r>
              <a:rPr b="0" lang="en-US" sz="1100" strike="noStrike" u="none">
                <a:solidFill>
                  <a:srgbClr val="000000"/>
                </a:solidFill>
                <a:effectLst/>
                <a:uFillTx/>
                <a:latin typeface="Arial"/>
              </a:rPr>
              <a:t>It overcomes open-ocean altimetry limitations near coasts by using specialized processing (e.g., X-TRACK/ALES) to recover reliable sea level and tidal harmonics within a few kilometers of land, enabling robust coastal trend and variability assessment.</a:t>
            </a:r>
            <a:endParaRPr b="0" lang="en-US" sz="1100" strike="noStrike" u="none">
              <a:solidFill>
                <a:srgbClr val="000000"/>
              </a:solidFill>
              <a:effectLst/>
              <a:uFillTx/>
              <a:latin typeface="Arial"/>
            </a:endParaRPr>
          </a:p>
          <a:p>
            <a:pPr>
              <a:lnSpc>
                <a:spcPct val="100000"/>
              </a:lnSpc>
            </a:pPr>
            <a:endParaRPr b="0" lang="en-US" sz="1100" strike="noStrike" u="none">
              <a:solidFill>
                <a:srgbClr val="000000"/>
              </a:solidFill>
              <a:effectLst/>
              <a:uFillTx/>
              <a:latin typeface="Arial"/>
            </a:endParaRPr>
          </a:p>
          <a:p>
            <a:pPr>
              <a:lnSpc>
                <a:spcPct val="100000"/>
              </a:lnSpc>
            </a:pPr>
            <a:r>
              <a:rPr b="0" lang="en-US" sz="1100" strike="noStrike" u="none">
                <a:solidFill>
                  <a:srgbClr val="000000"/>
                </a:solidFill>
                <a:effectLst/>
                <a:uFillTx/>
                <a:latin typeface="Arial"/>
              </a:rPr>
              <a:t>Coastal altimetry creates </a:t>
            </a:r>
            <a:r>
              <a:rPr b="1" i="1" lang="en-US" sz="1100" strike="noStrike" u="none">
                <a:solidFill>
                  <a:srgbClr val="000000"/>
                </a:solidFill>
                <a:effectLst/>
                <a:uFillTx/>
                <a:latin typeface="Arial"/>
              </a:rPr>
              <a:t>virtual tide-gauge “stations”</a:t>
            </a:r>
            <a:r>
              <a:rPr b="0" lang="en-US" sz="1100" strike="noStrike" u="none">
                <a:solidFill>
                  <a:srgbClr val="000000"/>
                </a:solidFill>
                <a:effectLst/>
                <a:uFillTx/>
                <a:latin typeface="Arial"/>
              </a:rPr>
              <a:t> where satellite tracks intersect the shoreline, complementing sparse in situ gauges with absolute sea level time series at high along-track resolution.</a:t>
            </a:r>
            <a:endParaRPr b="0" lang="en-US" sz="1100" strike="noStrike" u="none">
              <a:solidFill>
                <a:srgbClr val="000000"/>
              </a:solidFill>
              <a:effectLst/>
              <a:uFillTx/>
              <a:latin typeface="Arial"/>
            </a:endParaRPr>
          </a:p>
          <a:p>
            <a:pPr>
              <a:lnSpc>
                <a:spcPct val="100000"/>
              </a:lnSpc>
            </a:pPr>
            <a:endParaRPr b="0" lang="en-US" sz="1100" strike="noStrike" u="none">
              <a:solidFill>
                <a:srgbClr val="000000"/>
              </a:solidFill>
              <a:effectLst/>
              <a:uFillTx/>
              <a:latin typeface="Arial"/>
            </a:endParaRPr>
          </a:p>
          <a:p>
            <a:pPr>
              <a:lnSpc>
                <a:spcPct val="100000"/>
              </a:lnSpc>
            </a:pPr>
            <a:r>
              <a:rPr b="0" lang="en-US" sz="1100" strike="noStrike" u="none">
                <a:solidFill>
                  <a:srgbClr val="000000"/>
                </a:solidFill>
                <a:effectLst/>
                <a:uFillTx/>
                <a:latin typeface="Arial"/>
              </a:rPr>
              <a:t>Virtual coastal stations provide multidecadal sea level anomalies and trends at hundreds of sites globally, supporting nearshore sea level change studies and offering a geocentric reference that complements relative tide gauges subject to vertical land motion.</a:t>
            </a:r>
            <a:endParaRPr b="0" lang="en-US" sz="1100" strike="noStrike" u="none">
              <a:solidFill>
                <a:srgbClr val="000000"/>
              </a:solidFill>
              <a:effectLst/>
              <a:uFillTx/>
              <a:latin typeface="Arial"/>
            </a:endParaRPr>
          </a:p>
          <a:p>
            <a:pPr>
              <a:lnSpc>
                <a:spcPct val="100000"/>
              </a:lnSpc>
            </a:pPr>
            <a:endParaRPr b="0" lang="en-US" sz="1100" strike="noStrike" u="none">
              <a:solidFill>
                <a:srgbClr val="000000"/>
              </a:solidFill>
              <a:effectLst/>
              <a:uFillTx/>
              <a:latin typeface="Arial"/>
            </a:endParaRPr>
          </a:p>
          <a:p>
            <a:pPr>
              <a:lnSpc>
                <a:spcPct val="100000"/>
              </a:lnSpc>
            </a:pPr>
            <a:r>
              <a:rPr b="0" lang="en-US" sz="1100" strike="noStrike" u="none">
                <a:solidFill>
                  <a:srgbClr val="000000"/>
                </a:solidFill>
                <a:effectLst/>
                <a:uFillTx/>
                <a:latin typeface="Arial"/>
              </a:rPr>
              <a:t>The along-track sea surface height gradients derived from coastal altimetry can be used to estimate surface currents at a high spatial resolution, acting as a network of virtual surface current meters. This provides unprecedented insight into complex coastal circulation patterns.</a:t>
            </a:r>
            <a:endParaRPr b="0" lang="en-US" sz="1100" strike="noStrike" u="none">
              <a:solidFill>
                <a:srgbClr val="000000"/>
              </a:solidFill>
              <a:effectLst/>
              <a:uFillTx/>
              <a:latin typeface="Arial"/>
            </a:endParaRPr>
          </a:p>
          <a:p>
            <a:pPr>
              <a:lnSpc>
                <a:spcPct val="100000"/>
              </a:lnSpc>
            </a:pPr>
            <a:r>
              <a:rPr b="0" lang="en-US" sz="1100" strike="noStrike" u="none">
                <a:solidFill>
                  <a:srgbClr val="000000"/>
                </a:solidFill>
                <a:effectLst/>
                <a:uFillTx/>
                <a:latin typeface="Arial"/>
              </a:rPr>
              <a:t>For Indian coasts, integrating virtual stations with INCOIS services (ocean state forecasts, hazard advisories) aligns with the mission to deliver accurate, impact-based ocean information to society and maritime stakeholders</a:t>
            </a:r>
            <a:endParaRPr b="0" lang="en-US" sz="1100" strike="noStrike" u="none">
              <a:solidFill>
                <a:srgbClr val="000000"/>
              </a:solidFill>
              <a:effectLst/>
              <a:uFillTx/>
              <a:latin typeface="Arial"/>
            </a:endParaRPr>
          </a:p>
          <a:p>
            <a:pPr>
              <a:lnSpc>
                <a:spcPct val="100000"/>
              </a:lnSpc>
            </a:pPr>
            <a:endParaRPr b="0" lang="en-US" sz="1100" strike="noStrike" u="none">
              <a:solidFill>
                <a:srgbClr val="000000"/>
              </a:solidFill>
              <a:effectLst/>
              <a:uFillTx/>
              <a:latin typeface="Arial"/>
            </a:endParaRPr>
          </a:p>
          <a:p>
            <a:pPr>
              <a:lnSpc>
                <a:spcPct val="100000"/>
              </a:lnSpc>
            </a:pPr>
            <a:r>
              <a:rPr b="0" lang="en-US" sz="1100" strike="noStrike" u="none">
                <a:solidFill>
                  <a:srgbClr val="000000"/>
                </a:solidFill>
                <a:effectLst/>
                <a:uFillTx/>
                <a:latin typeface="Arial"/>
              </a:rPr>
              <a:t>References: Cazenave et al., 2022 (virtual coastal stations); AVISO/CTOH X-TRACK tidal constants (coastal tidal harmonics and uses); INCOIS vision/mission pages (alignment with institute objectives).</a:t>
            </a:r>
            <a:endParaRPr b="0" lang="en-US" sz="1100" strike="noStrike" u="none">
              <a:solidFill>
                <a:srgbClr val="000000"/>
              </a:solidFill>
              <a:effectLst/>
              <a:uFillTx/>
              <a:latin typeface="Arial"/>
            </a:endParaRPr>
          </a:p>
          <a:p>
            <a:pPr>
              <a:lnSpc>
                <a:spcPct val="100000"/>
              </a:lnSpc>
            </a:pP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100</TotalTime>
  <Application>LibreOffice/25.2.7.2$Linux_X86_64 LibreOffice_project/520$Build-2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2026-04-21T22:07:43Z</dcterms:modified>
  <cp:revision>28</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